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76" r:id="rId4"/>
    <p:sldId id="275" r:id="rId5"/>
    <p:sldId id="258" r:id="rId6"/>
    <p:sldId id="259" r:id="rId7"/>
    <p:sldId id="260" r:id="rId8"/>
    <p:sldId id="277" r:id="rId9"/>
    <p:sldId id="261" r:id="rId10"/>
    <p:sldId id="262" r:id="rId11"/>
    <p:sldId id="263" r:id="rId12"/>
    <p:sldId id="264" r:id="rId13"/>
    <p:sldId id="265" r:id="rId14"/>
    <p:sldId id="266" r:id="rId15"/>
    <p:sldId id="278" r:id="rId16"/>
    <p:sldId id="267" r:id="rId17"/>
    <p:sldId id="268" r:id="rId18"/>
    <p:sldId id="279" r:id="rId19"/>
    <p:sldId id="269" r:id="rId20"/>
    <p:sldId id="270" r:id="rId21"/>
    <p:sldId id="271" r:id="rId22"/>
    <p:sldId id="272" r:id="rId23"/>
    <p:sldId id="273" r:id="rId24"/>
    <p:sldId id="27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7" d="100"/>
          <a:sy n="107" d="100"/>
        </p:scale>
        <p:origin x="225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72541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hands-on tour of how I actually work with Claude Code inside VS Code. No theory: every slide is something you can try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has four parts. First how to start. Then the files that configure Claude. Then the planning process I follow. Finally the commands and flags I reach for every day.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Part 1: how to start. First the tools Claude uses, then the two ways to run it, and how to open your first project.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Everything Claude does goes through tools. Read, Grep and Glob look at your project. Edit and Write change files. Bash runs commands such as tests and git. AskUserQuestion is how it asks you to pick between options. Agent delegates to a sub-agent. You see each tool call in the chat, and permission settings control which ones ask first.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extension gives you a chat panel inside VS Code with diffs you can click through. The CLI is the same engine in a terminal, with more flags and automation. Slash commands work in both. My split: extension for everyday chat, CLI for flags, agents, worktrees and scripting.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works inside the folder you open, so always start with File, Open Folder. Then open the Claude Code panel from the side menu and describe a task. Edits show up as diffs you approve.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use the terminal built into VS Code (Ctrl+backtick) or any external terminal. cd into the project, type claude. That's it. Everything else in this talk works the same.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Part 2: configuration. The files and folders that make Claude work your way.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that customizes Claude lives in a .claude folder. The project one is shared through git. The one in your home directory applies to all your projects. You rarely write these files by hand: ask Claude to create or edit them.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CLAUDE.md is read at the start of every session, so Claude never starts from zero. I don't write mine by hand: I ask Claude to draft it (the /init command does this), then I refine it. Keep it short and concrete.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mental model. Skills are playbooks for things you repeat. Rules are small isolated instructions. Hooks are mandatory: they run automatically, Claude cannot forget them. Agents are separate workers with their own context.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skills I use across projects. Every one was produced by asking Claude, and I often ask it to tweak them when I notice something I'd change. Skills live in ~/.claude/skills/.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is a markdown file: frontmatter with name, description, tools and model, then instructions. Claude can delegate to it automatically, or you call it with @agent-name. Built-in agents like Explore and Plan already exist. You can also run an entire session as an agent with claude --agent.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Hooks are configured in settings.json and run a command on an event, for example when Claude stops and waits for you. I use one to get a push notification so I can leave a long task running. You can ask Claude to set it up for you.</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Part 3: the process. How I go from an idea to a phased, tested implementation.</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flow from my create-new-project skill. I start with the problem, settle the open decisions with Claude, then ask for a detailed written plan with tests, acceptance criteria and exit gates per phase. Only then do we write code.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plan and progress file exist, driving the project is trivial. Claude builds the phase, runs the exit gate, updates progress.md, and I read the evidence. If it is good, I type: next phase.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Part 4: the daily toolbox. Chat commands, CLI flags and built-in commands I use constantly.</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Claude's context window fills up, and quality drops when it is cluttered. These chat commands keep it tidy. /context shows what is using space. /clear starts fresh between tasks. /rewind undoes a wrong turn. /btw asks a side question without polluting the context.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CLI flags I use most. -c continues the last conversation. --resume lets you pick one. --fork-session branches off instead of continuing. -p runs one prompt non-interactively, great for scripts. --agent runs as a specific agent. --worktree gives Claude an isolated copy of the repo for parallel work.</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servers give Claude new tools, such as GitHub, docs or databases. You manage them from the terminal. Only add servers you trust, because they can act on your behalf.</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built-in commands cover the quality loop. /run launches the app to prove a change works. /code-review looks for bugs. ultra is a deeper cloud review that you trigger yourself and is billed. /security-review checks the branch for vulnerabilities. /simplify cleans up code. /install-github-app lets Claude work on your GitHub PRs.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/remote-control lets you continue a running session from another device, like your phone, so you can leave a long task and check on it. /powerup is built-in interactive lessons that teach you features you haven't tried yet.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remember eight things, remember these. Start from a folder and a CLAUDE.md, plan before code, build in phases, keep the context clean, let Claude write its own config, and review with the built-in commands. Thanks, and happy to demo any of it.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B1F3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rtlCol="0"/>
          <a:lstStyle>
            <a:lvl1pPr marL="0" indent="0" algn="l">
              <a:buNone/>
              <a:defRPr lang="en-US" sz="3000" b="1" dirty="0">
                <a:solidFill>
                  <a:srgbClr val="F2F6FC"/>
                </a:solidFill>
                <a:latin typeface="Calibri" pitchFamily="34" charset="0"/>
                <a:ea typeface="Calibri" pitchFamily="34" charset="-122"/>
                <a:cs typeface="Calibri" pitchFamily="34" charset="-120"/>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0B1F3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1920240"/>
            <a:ext cx="10515600" cy="1005840"/>
          </a:xfrm>
          <a:prstGeom prst="rect">
            <a:avLst/>
          </a:prstGeom>
          <a:noFill/>
          <a:ln/>
        </p:spPr>
        <p:txBody>
          <a:bodyPr wrap="square" lIns="0" tIns="0" rIns="0" bIns="0" rtlCol="0" anchor="ctr"/>
          <a:lstStyle/>
          <a:p>
            <a:pPr marL="0" indent="0">
              <a:buNone/>
            </a:pPr>
            <a:r>
              <a:rPr lang="en-US" sz="5400" b="1" dirty="0">
                <a:solidFill>
                  <a:srgbClr val="F2F6FC"/>
                </a:solidFill>
                <a:latin typeface="Calibri" pitchFamily="34" charset="0"/>
                <a:ea typeface="Calibri" pitchFamily="34" charset="-122"/>
                <a:cs typeface="Calibri" pitchFamily="34" charset="-120"/>
              </a:rPr>
              <a:t>Claude Code in VS Code</a:t>
            </a:r>
            <a:endParaRPr lang="en-US" sz="5400" dirty="0"/>
          </a:p>
        </p:txBody>
      </p:sp>
      <p:sp>
        <p:nvSpPr>
          <p:cNvPr id="3" name="Text 1"/>
          <p:cNvSpPr txBox="1"/>
          <p:nvPr/>
        </p:nvSpPr>
        <p:spPr>
          <a:xfrm>
            <a:off x="822960" y="2926080"/>
            <a:ext cx="10515600" cy="731520"/>
          </a:xfrm>
          <a:prstGeom prst="rect">
            <a:avLst/>
          </a:prstGeom>
          <a:noFill/>
          <a:ln/>
        </p:spPr>
        <p:txBody>
          <a:bodyPr wrap="square" lIns="0" tIns="0" rIns="0" bIns="0" rtlCol="0" anchor="ctr"/>
          <a:lstStyle/>
          <a:p>
            <a:pPr marL="0" indent="0">
              <a:buNone/>
            </a:pPr>
            <a:r>
              <a:rPr lang="en-US" sz="3600" dirty="0">
                <a:solidFill>
                  <a:srgbClr val="38BDF8"/>
                </a:solidFill>
                <a:latin typeface="Calibri" pitchFamily="34" charset="0"/>
                <a:ea typeface="Calibri" pitchFamily="34" charset="-122"/>
                <a:cs typeface="Calibri" pitchFamily="34" charset="-120"/>
              </a:rPr>
              <a:t>The tricks I use every day</a:t>
            </a:r>
            <a:endParaRPr lang="en-US" sz="3600" dirty="0"/>
          </a:p>
        </p:txBody>
      </p:sp>
      <p:sp>
        <p:nvSpPr>
          <p:cNvPr id="4" name="Text 2"/>
          <p:cNvSpPr txBox="1"/>
          <p:nvPr/>
        </p:nvSpPr>
        <p:spPr>
          <a:xfrm>
            <a:off x="822960" y="3931920"/>
            <a:ext cx="10515600" cy="457200"/>
          </a:xfrm>
          <a:prstGeom prst="rect">
            <a:avLst/>
          </a:prstGeom>
          <a:noFill/>
          <a:ln/>
        </p:spPr>
        <p:txBody>
          <a:bodyPr wrap="square" lIns="0" tIns="0" rIns="0" bIns="0" rtlCol="0" anchor="ctr"/>
          <a:lstStyle/>
          <a:p>
            <a:pPr marL="0" indent="0">
              <a:buNone/>
            </a:pPr>
            <a:r>
              <a:rPr lang="en-US" sz="2000" dirty="0">
                <a:solidFill>
                  <a:srgbClr val="A9BCD6"/>
                </a:solidFill>
                <a:latin typeface="Calibri" pitchFamily="34" charset="0"/>
                <a:ea typeface="Calibri" pitchFamily="34" charset="-122"/>
                <a:cs typeface="Calibri" pitchFamily="34" charset="-120"/>
              </a:rPr>
              <a:t>A practical tour for friends: start, configure, plan, drive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Four blocks: </a:t>
            </a:r>
            <a:r>
              <a:rPr lang="en-US" sz="3000" b="1" dirty="0">
                <a:solidFill>
                  <a:schemeClr val="accent2"/>
                </a:solidFill>
                <a:latin typeface="Calibri" pitchFamily="34" charset="0"/>
                <a:ea typeface="Calibri" pitchFamily="34" charset="-122"/>
                <a:cs typeface="Calibri" pitchFamily="34" charset="-120"/>
              </a:rPr>
              <a:t>start, configure, plan, then drive daily</a:t>
            </a:r>
            <a:endParaRPr lang="en-US" sz="3000" dirty="0">
              <a:solidFill>
                <a:schemeClr val="accent2"/>
              </a:solidFill>
            </a:endParaRPr>
          </a:p>
        </p:txBody>
      </p:sp>
      <p:sp>
        <p:nvSpPr>
          <p:cNvPr id="4" name="Shape 1"/>
          <p:cNvSpPr/>
          <p:nvPr/>
        </p:nvSpPr>
        <p:spPr>
          <a:xfrm>
            <a:off x="548640" y="1828800"/>
            <a:ext cx="2567178" cy="329184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201168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1</a:t>
            </a:r>
            <a:endParaRPr lang="en-US" sz="1600" dirty="0"/>
          </a:p>
        </p:txBody>
      </p:sp>
      <p:sp>
        <p:nvSpPr>
          <p:cNvPr id="6" name="Text 3"/>
          <p:cNvSpPr txBox="1"/>
          <p:nvPr/>
        </p:nvSpPr>
        <p:spPr>
          <a:xfrm>
            <a:off x="777240" y="2395728"/>
            <a:ext cx="2109978" cy="411480"/>
          </a:xfrm>
          <a:prstGeom prst="rect">
            <a:avLst/>
          </a:prstGeom>
          <a:noFill/>
          <a:ln/>
        </p:spPr>
        <p:txBody>
          <a:bodyPr wrap="square" lIns="0" tIns="0" rIns="0" bIns="0" rtlCol="0" anchor="t"/>
          <a:lstStyle/>
          <a:p>
            <a:pPr marL="0" indent="0">
              <a:buNone/>
            </a:pPr>
            <a:r>
              <a:rPr lang="en-US" sz="2600" b="1" dirty="0">
                <a:solidFill>
                  <a:srgbClr val="F2F6FC"/>
                </a:solidFill>
                <a:latin typeface="Calibri" pitchFamily="34" charset="0"/>
                <a:ea typeface="Calibri" pitchFamily="34" charset="-122"/>
                <a:cs typeface="Calibri" pitchFamily="34" charset="-120"/>
              </a:rPr>
              <a:t>Start</a:t>
            </a:r>
            <a:endParaRPr lang="en-US" sz="2600" dirty="0"/>
          </a:p>
        </p:txBody>
      </p:sp>
      <p:sp>
        <p:nvSpPr>
          <p:cNvPr id="7" name="Text 4"/>
          <p:cNvSpPr txBox="1"/>
          <p:nvPr/>
        </p:nvSpPr>
        <p:spPr>
          <a:xfrm>
            <a:off x="777240" y="2898648"/>
            <a:ext cx="2109978" cy="2084832"/>
          </a:xfrm>
          <a:prstGeom prst="rect">
            <a:avLst/>
          </a:prstGeom>
          <a:noFill/>
          <a:ln/>
        </p:spPr>
        <p:txBody>
          <a:bodyPr wrap="square" lIns="0" tIns="0" rIns="0" bIns="0" rtlCol="0" anchor="t"/>
          <a:lstStyle/>
          <a:p>
            <a:pPr marL="0" indent="0">
              <a:buNone/>
            </a:pPr>
            <a:r>
              <a:rPr lang="en-US" sz="1800" dirty="0">
                <a:solidFill>
                  <a:srgbClr val="A9BCD6"/>
                </a:solidFill>
                <a:latin typeface="Calibri" pitchFamily="34" charset="0"/>
                <a:ea typeface="Calibri" pitchFamily="34" charset="-122"/>
                <a:cs typeface="Calibri" pitchFamily="34" charset="-120"/>
              </a:rPr>
              <a:t>Claude's tools, extension vs CLI, opening a project</a:t>
            </a:r>
            <a:endParaRPr lang="en-US" sz="1800" dirty="0"/>
          </a:p>
        </p:txBody>
      </p:sp>
      <p:sp>
        <p:nvSpPr>
          <p:cNvPr id="8" name="Shape 5"/>
          <p:cNvSpPr/>
          <p:nvPr/>
        </p:nvSpPr>
        <p:spPr>
          <a:xfrm>
            <a:off x="3390138" y="1828800"/>
            <a:ext cx="2567178" cy="329184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9" name="Text 6"/>
          <p:cNvSpPr txBox="1"/>
          <p:nvPr/>
        </p:nvSpPr>
        <p:spPr>
          <a:xfrm>
            <a:off x="3618738" y="201168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2</a:t>
            </a:r>
            <a:endParaRPr lang="en-US" sz="1600" dirty="0"/>
          </a:p>
        </p:txBody>
      </p:sp>
      <p:sp>
        <p:nvSpPr>
          <p:cNvPr id="10" name="Text 7"/>
          <p:cNvSpPr txBox="1"/>
          <p:nvPr/>
        </p:nvSpPr>
        <p:spPr>
          <a:xfrm>
            <a:off x="3618738" y="2395728"/>
            <a:ext cx="2109978" cy="411480"/>
          </a:xfrm>
          <a:prstGeom prst="rect">
            <a:avLst/>
          </a:prstGeom>
          <a:noFill/>
          <a:ln/>
        </p:spPr>
        <p:txBody>
          <a:bodyPr wrap="square" lIns="0" tIns="0" rIns="0" bIns="0" rtlCol="0" anchor="t"/>
          <a:lstStyle/>
          <a:p>
            <a:pPr marL="0" indent="0">
              <a:buNone/>
            </a:pPr>
            <a:r>
              <a:rPr lang="en-US" sz="2600" b="1" dirty="0">
                <a:solidFill>
                  <a:srgbClr val="F2F6FC"/>
                </a:solidFill>
                <a:latin typeface="Calibri" pitchFamily="34" charset="0"/>
                <a:ea typeface="Calibri" pitchFamily="34" charset="-122"/>
                <a:cs typeface="Calibri" pitchFamily="34" charset="-120"/>
              </a:rPr>
              <a:t>Configure</a:t>
            </a:r>
            <a:endParaRPr lang="en-US" sz="2600" dirty="0"/>
          </a:p>
        </p:txBody>
      </p:sp>
      <p:sp>
        <p:nvSpPr>
          <p:cNvPr id="11" name="Text 8"/>
          <p:cNvSpPr txBox="1"/>
          <p:nvPr/>
        </p:nvSpPr>
        <p:spPr>
          <a:xfrm>
            <a:off x="3618738" y="2898648"/>
            <a:ext cx="2109978" cy="2084832"/>
          </a:xfrm>
          <a:prstGeom prst="rect">
            <a:avLst/>
          </a:prstGeom>
          <a:noFill/>
          <a:ln/>
        </p:spPr>
        <p:txBody>
          <a:bodyPr wrap="square" lIns="0" tIns="0" rIns="0" bIns="0" rtlCol="0" anchor="t"/>
          <a:lstStyle/>
          <a:p>
            <a:pPr marL="0" indent="0">
              <a:buNone/>
            </a:pPr>
            <a:r>
              <a:rPr lang="en-US" sz="1800" dirty="0">
                <a:solidFill>
                  <a:srgbClr val="A9BCD6"/>
                </a:solidFill>
                <a:latin typeface="Calibri" pitchFamily="34" charset="0"/>
                <a:ea typeface="Calibri" pitchFamily="34" charset="-122"/>
                <a:cs typeface="Calibri" pitchFamily="34" charset="-120"/>
              </a:rPr>
              <a:t>.claude/ folder, CLAUDE.md, skills, agents, hooks</a:t>
            </a:r>
            <a:endParaRPr lang="en-US" sz="1800" dirty="0"/>
          </a:p>
        </p:txBody>
      </p:sp>
      <p:sp>
        <p:nvSpPr>
          <p:cNvPr id="12" name="Shape 9"/>
          <p:cNvSpPr/>
          <p:nvPr/>
        </p:nvSpPr>
        <p:spPr>
          <a:xfrm>
            <a:off x="6231636" y="1828800"/>
            <a:ext cx="2567178" cy="329184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13" name="Text 10"/>
          <p:cNvSpPr txBox="1"/>
          <p:nvPr/>
        </p:nvSpPr>
        <p:spPr>
          <a:xfrm>
            <a:off x="6460236" y="201168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3</a:t>
            </a:r>
            <a:endParaRPr lang="en-US" sz="1600" dirty="0"/>
          </a:p>
        </p:txBody>
      </p:sp>
      <p:sp>
        <p:nvSpPr>
          <p:cNvPr id="14" name="Text 11"/>
          <p:cNvSpPr txBox="1"/>
          <p:nvPr/>
        </p:nvSpPr>
        <p:spPr>
          <a:xfrm>
            <a:off x="6460236" y="2395728"/>
            <a:ext cx="2109978" cy="411480"/>
          </a:xfrm>
          <a:prstGeom prst="rect">
            <a:avLst/>
          </a:prstGeom>
          <a:noFill/>
          <a:ln/>
        </p:spPr>
        <p:txBody>
          <a:bodyPr wrap="square" lIns="0" tIns="0" rIns="0" bIns="0" rtlCol="0" anchor="t"/>
          <a:lstStyle/>
          <a:p>
            <a:pPr marL="0" indent="0">
              <a:buNone/>
            </a:pPr>
            <a:r>
              <a:rPr lang="en-US" sz="2600" b="1" dirty="0">
                <a:solidFill>
                  <a:srgbClr val="F2F6FC"/>
                </a:solidFill>
                <a:latin typeface="Calibri" pitchFamily="34" charset="0"/>
                <a:ea typeface="Calibri" pitchFamily="34" charset="-122"/>
                <a:cs typeface="Calibri" pitchFamily="34" charset="-120"/>
              </a:rPr>
              <a:t>Plan</a:t>
            </a:r>
            <a:endParaRPr lang="en-US" sz="2600" dirty="0"/>
          </a:p>
        </p:txBody>
      </p:sp>
      <p:sp>
        <p:nvSpPr>
          <p:cNvPr id="15" name="Text 12"/>
          <p:cNvSpPr txBox="1"/>
          <p:nvPr/>
        </p:nvSpPr>
        <p:spPr>
          <a:xfrm>
            <a:off x="6460236" y="2898648"/>
            <a:ext cx="2109978" cy="2084832"/>
          </a:xfrm>
          <a:prstGeom prst="rect">
            <a:avLst/>
          </a:prstGeom>
          <a:noFill/>
          <a:ln/>
        </p:spPr>
        <p:txBody>
          <a:bodyPr wrap="square" lIns="0" tIns="0" rIns="0" bIns="0" rtlCol="0" anchor="t"/>
          <a:lstStyle/>
          <a:p>
            <a:pPr marL="0" indent="0">
              <a:buNone/>
            </a:pPr>
            <a:r>
              <a:rPr lang="en-US" sz="1800" dirty="0">
                <a:solidFill>
                  <a:srgbClr val="A9BCD6"/>
                </a:solidFill>
                <a:latin typeface="Calibri" pitchFamily="34" charset="0"/>
                <a:ea typeface="Calibri" pitchFamily="34" charset="-122"/>
                <a:cs typeface="Calibri" pitchFamily="34" charset="-120"/>
              </a:rPr>
              <a:t>Problem, decisions, phases, exit gates, "next phase"</a:t>
            </a:r>
            <a:endParaRPr lang="en-US" sz="1800" dirty="0"/>
          </a:p>
        </p:txBody>
      </p:sp>
      <p:sp>
        <p:nvSpPr>
          <p:cNvPr id="16" name="Shape 13"/>
          <p:cNvSpPr/>
          <p:nvPr/>
        </p:nvSpPr>
        <p:spPr>
          <a:xfrm>
            <a:off x="9073134" y="1828800"/>
            <a:ext cx="2567178" cy="329184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17" name="Text 14"/>
          <p:cNvSpPr txBox="1"/>
          <p:nvPr/>
        </p:nvSpPr>
        <p:spPr>
          <a:xfrm>
            <a:off x="9301734" y="201168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4</a:t>
            </a:r>
            <a:endParaRPr lang="en-US" sz="1600" dirty="0"/>
          </a:p>
        </p:txBody>
      </p:sp>
      <p:sp>
        <p:nvSpPr>
          <p:cNvPr id="18" name="Text 15"/>
          <p:cNvSpPr txBox="1"/>
          <p:nvPr/>
        </p:nvSpPr>
        <p:spPr>
          <a:xfrm>
            <a:off x="9301734" y="2395728"/>
            <a:ext cx="2109978" cy="411480"/>
          </a:xfrm>
          <a:prstGeom prst="rect">
            <a:avLst/>
          </a:prstGeom>
          <a:noFill/>
          <a:ln/>
        </p:spPr>
        <p:txBody>
          <a:bodyPr wrap="square" lIns="0" tIns="0" rIns="0" bIns="0" rtlCol="0" anchor="t"/>
          <a:lstStyle/>
          <a:p>
            <a:pPr marL="0" indent="0">
              <a:buNone/>
            </a:pPr>
            <a:r>
              <a:rPr lang="en-US" sz="2600" b="1" dirty="0">
                <a:solidFill>
                  <a:srgbClr val="F2F6FC"/>
                </a:solidFill>
                <a:latin typeface="Calibri" pitchFamily="34" charset="0"/>
                <a:ea typeface="Calibri" pitchFamily="34" charset="-122"/>
                <a:cs typeface="Calibri" pitchFamily="34" charset="-120"/>
              </a:rPr>
              <a:t>Drive</a:t>
            </a:r>
            <a:endParaRPr lang="en-US" sz="2600" dirty="0"/>
          </a:p>
        </p:txBody>
      </p:sp>
      <p:sp>
        <p:nvSpPr>
          <p:cNvPr id="19" name="Text 16"/>
          <p:cNvSpPr txBox="1"/>
          <p:nvPr/>
        </p:nvSpPr>
        <p:spPr>
          <a:xfrm>
            <a:off x="9301734" y="2898648"/>
            <a:ext cx="2109978" cy="2084832"/>
          </a:xfrm>
          <a:prstGeom prst="rect">
            <a:avLst/>
          </a:prstGeom>
          <a:noFill/>
          <a:ln/>
        </p:spPr>
        <p:txBody>
          <a:bodyPr wrap="square" lIns="0" tIns="0" rIns="0" bIns="0" rtlCol="0" anchor="t"/>
          <a:lstStyle/>
          <a:p>
            <a:pPr marL="0" indent="0">
              <a:buNone/>
            </a:pPr>
            <a:r>
              <a:rPr lang="en-US" sz="1800" dirty="0">
                <a:solidFill>
                  <a:srgbClr val="A9BCD6"/>
                </a:solidFill>
                <a:latin typeface="Calibri" pitchFamily="34" charset="0"/>
                <a:ea typeface="Calibri" pitchFamily="34" charset="-122"/>
                <a:cs typeface="Calibri" pitchFamily="34" charset="-120"/>
              </a:rPr>
              <a:t>Context tricks, terminal flags, MCP, review commands</a:t>
            </a:r>
            <a:endParaRPr lang="en-US" sz="1800" dirty="0"/>
          </a:p>
        </p:txBody>
      </p:sp>
      <p:sp>
        <p:nvSpPr>
          <p:cNvPr id="20" name="Text 17"/>
          <p:cNvSpPr txBox="1"/>
          <p:nvPr/>
        </p:nvSpPr>
        <p:spPr>
          <a:xfrm>
            <a:off x="548640" y="5349240"/>
            <a:ext cx="2567178" cy="365760"/>
          </a:xfrm>
          <a:prstGeom prst="rect">
            <a:avLst/>
          </a:prstGeom>
          <a:noFill/>
          <a:ln/>
        </p:spPr>
        <p:txBody>
          <a:bodyPr wrap="square" lIns="0" tIns="0" rIns="0" bIns="0" rtlCol="0" anchor="ctr"/>
          <a:lstStyle/>
          <a:p>
            <a:pPr marL="0" indent="0">
              <a:buNone/>
            </a:pPr>
            <a:r>
              <a:rPr lang="en-US" sz="1400" dirty="0">
                <a:solidFill>
                  <a:srgbClr val="A9BCD6"/>
                </a:solidFill>
                <a:latin typeface="Calibri" pitchFamily="34" charset="0"/>
                <a:ea typeface="Calibri" pitchFamily="34" charset="-122"/>
                <a:cs typeface="Calibri" pitchFamily="34" charset="-120"/>
              </a:rPr>
              <a:t>Slides 3-7</a:t>
            </a:r>
            <a:endParaRPr lang="en-US" sz="1400" dirty="0"/>
          </a:p>
        </p:txBody>
      </p:sp>
      <p:sp>
        <p:nvSpPr>
          <p:cNvPr id="21" name="Text 18"/>
          <p:cNvSpPr txBox="1"/>
          <p:nvPr/>
        </p:nvSpPr>
        <p:spPr>
          <a:xfrm>
            <a:off x="3390138" y="5349240"/>
            <a:ext cx="2567178" cy="365760"/>
          </a:xfrm>
          <a:prstGeom prst="rect">
            <a:avLst/>
          </a:prstGeom>
          <a:noFill/>
          <a:ln/>
        </p:spPr>
        <p:txBody>
          <a:bodyPr wrap="square" lIns="0" tIns="0" rIns="0" bIns="0" rtlCol="0" anchor="ctr"/>
          <a:lstStyle/>
          <a:p>
            <a:pPr marL="0" indent="0">
              <a:buNone/>
            </a:pPr>
            <a:r>
              <a:rPr lang="en-US" sz="1400" dirty="0">
                <a:solidFill>
                  <a:srgbClr val="A9BCD6"/>
                </a:solidFill>
                <a:latin typeface="Calibri" pitchFamily="34" charset="0"/>
                <a:ea typeface="Calibri" pitchFamily="34" charset="-122"/>
                <a:cs typeface="Calibri" pitchFamily="34" charset="-120"/>
              </a:rPr>
              <a:t>Slides 8-14</a:t>
            </a:r>
            <a:endParaRPr lang="en-US" sz="1400" dirty="0"/>
          </a:p>
        </p:txBody>
      </p:sp>
      <p:sp>
        <p:nvSpPr>
          <p:cNvPr id="22" name="Text 19"/>
          <p:cNvSpPr txBox="1"/>
          <p:nvPr/>
        </p:nvSpPr>
        <p:spPr>
          <a:xfrm>
            <a:off x="6231636" y="5349240"/>
            <a:ext cx="2567178" cy="365760"/>
          </a:xfrm>
          <a:prstGeom prst="rect">
            <a:avLst/>
          </a:prstGeom>
          <a:noFill/>
          <a:ln/>
        </p:spPr>
        <p:txBody>
          <a:bodyPr wrap="square" lIns="0" tIns="0" rIns="0" bIns="0" rtlCol="0" anchor="ctr"/>
          <a:lstStyle/>
          <a:p>
            <a:pPr marL="0" indent="0">
              <a:buNone/>
            </a:pPr>
            <a:r>
              <a:rPr lang="en-US" sz="1400" dirty="0">
                <a:solidFill>
                  <a:srgbClr val="A9BCD6"/>
                </a:solidFill>
                <a:latin typeface="Calibri" pitchFamily="34" charset="0"/>
                <a:ea typeface="Calibri" pitchFamily="34" charset="-122"/>
                <a:cs typeface="Calibri" pitchFamily="34" charset="-120"/>
              </a:rPr>
              <a:t>Slides 15-17</a:t>
            </a:r>
            <a:endParaRPr lang="en-US" sz="1400" dirty="0"/>
          </a:p>
        </p:txBody>
      </p:sp>
      <p:sp>
        <p:nvSpPr>
          <p:cNvPr id="23" name="Text 20"/>
          <p:cNvSpPr txBox="1"/>
          <p:nvPr/>
        </p:nvSpPr>
        <p:spPr>
          <a:xfrm>
            <a:off x="9073134" y="5349240"/>
            <a:ext cx="2567178" cy="365760"/>
          </a:xfrm>
          <a:prstGeom prst="rect">
            <a:avLst/>
          </a:prstGeom>
          <a:noFill/>
          <a:ln/>
        </p:spPr>
        <p:txBody>
          <a:bodyPr wrap="square" lIns="0" tIns="0" rIns="0" bIns="0" rtlCol="0" anchor="ctr"/>
          <a:lstStyle/>
          <a:p>
            <a:pPr marL="0" indent="0">
              <a:buNone/>
            </a:pPr>
            <a:r>
              <a:rPr lang="en-US" sz="1400" dirty="0">
                <a:solidFill>
                  <a:srgbClr val="A9BCD6"/>
                </a:solidFill>
                <a:latin typeface="Calibri" pitchFamily="34" charset="0"/>
                <a:ea typeface="Calibri" pitchFamily="34" charset="-122"/>
                <a:cs typeface="Calibri" pitchFamily="34" charset="-120"/>
              </a:rPr>
              <a:t>Slides 18-24</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822960" y="2697480"/>
            <a:ext cx="1371600" cy="1371600"/>
          </a:xfrm>
          <a:prstGeom prst="ellipse">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697480"/>
            <a:ext cx="1371600" cy="1371600"/>
          </a:xfrm>
          <a:prstGeom prst="rect">
            <a:avLst/>
          </a:prstGeom>
          <a:noFill/>
        </p:spPr>
        <p:txBody>
          <a:bodyPr wrap="square" lIns="0" tIns="0" rIns="0" bIns="0" anchor="ctr">
            <a:spAutoFit/>
          </a:bodyPr>
          <a:lstStyle/>
          <a:p>
            <a:pPr algn="ctr"/>
            <a:r>
              <a:rPr sz="6000" b="1">
                <a:solidFill>
                  <a:srgbClr val="0B1F3A"/>
                </a:solidFill>
                <a:latin typeface="Calibri"/>
              </a:rPr>
              <a:t>1</a:t>
            </a:r>
          </a:p>
        </p:txBody>
      </p:sp>
      <p:sp>
        <p:nvSpPr>
          <p:cNvPr id="4" name="TextBox 3"/>
          <p:cNvSpPr txBox="1"/>
          <p:nvPr/>
        </p:nvSpPr>
        <p:spPr>
          <a:xfrm>
            <a:off x="2651760" y="2606040"/>
            <a:ext cx="5486400" cy="914400"/>
          </a:xfrm>
          <a:prstGeom prst="rect">
            <a:avLst/>
          </a:prstGeom>
          <a:noFill/>
        </p:spPr>
        <p:txBody>
          <a:bodyPr wrap="square" lIns="0" tIns="0" rIns="0" bIns="0" anchor="ctr">
            <a:spAutoFit/>
          </a:bodyPr>
          <a:lstStyle/>
          <a:p>
            <a:pPr algn="l"/>
            <a:r>
              <a:rPr sz="5400" b="1">
                <a:solidFill>
                  <a:srgbClr val="F2F6FC"/>
                </a:solidFill>
                <a:latin typeface="Calibri"/>
              </a:rPr>
              <a:t>Start</a:t>
            </a:r>
          </a:p>
        </p:txBody>
      </p:sp>
      <p:sp>
        <p:nvSpPr>
          <p:cNvPr id="5" name="TextBox 4"/>
          <p:cNvSpPr txBox="1"/>
          <p:nvPr/>
        </p:nvSpPr>
        <p:spPr>
          <a:xfrm>
            <a:off x="2651760" y="3611880"/>
            <a:ext cx="5486400" cy="822960"/>
          </a:xfrm>
          <a:prstGeom prst="rect">
            <a:avLst/>
          </a:prstGeom>
          <a:noFill/>
        </p:spPr>
        <p:txBody>
          <a:bodyPr wrap="square" lIns="0" tIns="0" rIns="0" bIns="0" anchor="t">
            <a:spAutoFit/>
          </a:bodyPr>
          <a:lstStyle/>
          <a:p>
            <a:pPr algn="l"/>
            <a:r>
              <a:rPr sz="2200" b="0">
                <a:solidFill>
                  <a:srgbClr val="A9BCD6"/>
                </a:solidFill>
                <a:latin typeface="Calibri"/>
              </a:rPr>
              <a:t>Tools, VS Code vs CLI, first run</a:t>
            </a:r>
          </a:p>
        </p:txBody>
      </p:sp>
      <p:sp>
        <p:nvSpPr>
          <p:cNvPr id="6" name="Rounded Rectangle 5"/>
          <p:cNvSpPr/>
          <p:nvPr/>
        </p:nvSpPr>
        <p:spPr>
          <a:xfrm>
            <a:off x="8412480" y="1737360"/>
            <a:ext cx="3246120" cy="3383280"/>
          </a:xfrm>
          <a:prstGeom prst="roundRect">
            <a:avLst>
              <a:gd name="adj" fmla="val 6000"/>
            </a:avLst>
          </a:prstGeom>
          <a:solidFill>
            <a:srgbClr val="1230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0" y="1965960"/>
            <a:ext cx="2743200" cy="365760"/>
          </a:xfrm>
          <a:prstGeom prst="rect">
            <a:avLst/>
          </a:prstGeom>
          <a:noFill/>
        </p:spPr>
        <p:txBody>
          <a:bodyPr wrap="square" lIns="0" tIns="0" rIns="0" bIns="0" anchor="t">
            <a:spAutoFit/>
          </a:bodyPr>
          <a:lstStyle/>
          <a:p>
            <a:pPr algn="l"/>
            <a:r>
              <a:rPr sz="1600" b="1">
                <a:solidFill>
                  <a:srgbClr val="38BDF8"/>
                </a:solidFill>
                <a:latin typeface="Calibri"/>
              </a:rPr>
              <a:t>In this section</a:t>
            </a:r>
          </a:p>
        </p:txBody>
      </p:sp>
      <p:sp>
        <p:nvSpPr>
          <p:cNvPr id="8" name="TextBox 7"/>
          <p:cNvSpPr txBox="1"/>
          <p:nvPr/>
        </p:nvSpPr>
        <p:spPr>
          <a:xfrm>
            <a:off x="8686800" y="2423160"/>
            <a:ext cx="2743200" cy="2560320"/>
          </a:xfrm>
          <a:prstGeom prst="rect">
            <a:avLst/>
          </a:prstGeom>
          <a:noFill/>
        </p:spPr>
        <p:txBody>
          <a:bodyPr wrap="square" lIns="0" tIns="0" rIns="0" bIns="0" anchor="t">
            <a:spAutoFit/>
          </a:bodyPr>
          <a:lstStyle/>
          <a:p>
            <a:pPr algn="l"/>
            <a:r>
              <a:rPr sz="1800" b="0">
                <a:solidFill>
                  <a:srgbClr val="F2F6FC"/>
                </a:solidFill>
                <a:latin typeface="Calibri"/>
              </a:rPr>
              <a:t>What Claude can do</a:t>
            </a:r>
          </a:p>
          <a:p>
            <a:pPr>
              <a:spcBef>
                <a:spcPts val="800"/>
              </a:spcBef>
            </a:pPr>
            <a:r>
              <a:rPr sz="1800">
                <a:solidFill>
                  <a:srgbClr val="F2F6FC"/>
                </a:solidFill>
                <a:latin typeface="Calibri"/>
              </a:rPr>
              <a:t>Extension vs CLI</a:t>
            </a:r>
          </a:p>
          <a:p>
            <a:pPr>
              <a:spcBef>
                <a:spcPts val="800"/>
              </a:spcBef>
            </a:pPr>
            <a:r>
              <a:rPr sz="1800">
                <a:solidFill>
                  <a:srgbClr val="F2F6FC"/>
                </a:solidFill>
                <a:latin typeface="Calibri"/>
              </a:rPr>
              <a:t>Open a folder</a:t>
            </a:r>
          </a:p>
          <a:p>
            <a:pPr>
              <a:spcBef>
                <a:spcPts val="800"/>
              </a:spcBef>
            </a:pPr>
            <a:r>
              <a:rPr sz="1800">
                <a:solidFill>
                  <a:srgbClr val="F2F6FC"/>
                </a:solidFill>
                <a:latin typeface="Calibri"/>
              </a:rPr>
              <a:t>Start the CLI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p:txBody>
          <a:bodyPr/>
          <a:lstStyle/>
          <a:p>
            <a:r>
              <a:rPr>
                <a:solidFill>
                  <a:schemeClr val="accent2"/>
                </a:solidFill>
              </a:rPr>
              <a:t>Claude works through tools</a:t>
            </a:r>
            <a:r>
              <a:t>: read, search, edit, run</a:t>
            </a:r>
          </a:p>
        </p:txBody>
      </p:sp>
      <p:sp>
        <p:nvSpPr>
          <p:cNvPr id="4" name="Shape 1"/>
          <p:cNvSpPr/>
          <p:nvPr/>
        </p:nvSpPr>
        <p:spPr>
          <a:xfrm>
            <a:off x="548640" y="169164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87452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Read</a:t>
            </a:r>
            <a:endParaRPr lang="en-US" sz="2400" dirty="0"/>
          </a:p>
        </p:txBody>
      </p:sp>
      <p:sp>
        <p:nvSpPr>
          <p:cNvPr id="6" name="Text 3"/>
          <p:cNvSpPr txBox="1"/>
          <p:nvPr/>
        </p:nvSpPr>
        <p:spPr>
          <a:xfrm>
            <a:off x="777240" y="237744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Opens files (code, images, PDFs)</a:t>
            </a:r>
            <a:endParaRPr lang="en-US" sz="1600" dirty="0"/>
          </a:p>
        </p:txBody>
      </p:sp>
      <p:sp>
        <p:nvSpPr>
          <p:cNvPr id="7" name="Shape 1"/>
          <p:cNvSpPr/>
          <p:nvPr/>
        </p:nvSpPr>
        <p:spPr>
          <a:xfrm>
            <a:off x="3392424" y="169164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8" name="Text 2"/>
          <p:cNvSpPr txBox="1"/>
          <p:nvPr/>
        </p:nvSpPr>
        <p:spPr>
          <a:xfrm>
            <a:off x="3621024" y="187452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Grep</a:t>
            </a:r>
            <a:endParaRPr lang="en-US" sz="2400" dirty="0"/>
          </a:p>
        </p:txBody>
      </p:sp>
      <p:sp>
        <p:nvSpPr>
          <p:cNvPr id="9" name="Text 3"/>
          <p:cNvSpPr txBox="1"/>
          <p:nvPr/>
        </p:nvSpPr>
        <p:spPr>
          <a:xfrm>
            <a:off x="3621024" y="237744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Searches inside files for text or patterns</a:t>
            </a:r>
            <a:endParaRPr lang="en-US" sz="1600" dirty="0"/>
          </a:p>
        </p:txBody>
      </p:sp>
      <p:sp>
        <p:nvSpPr>
          <p:cNvPr id="10" name="Shape 1"/>
          <p:cNvSpPr/>
          <p:nvPr/>
        </p:nvSpPr>
        <p:spPr>
          <a:xfrm>
            <a:off x="6236207" y="169164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1" name="Text 2"/>
          <p:cNvSpPr txBox="1"/>
          <p:nvPr/>
        </p:nvSpPr>
        <p:spPr>
          <a:xfrm>
            <a:off x="6464807" y="187452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Glob</a:t>
            </a:r>
            <a:endParaRPr lang="en-US" sz="2400" dirty="0"/>
          </a:p>
        </p:txBody>
      </p:sp>
      <p:sp>
        <p:nvSpPr>
          <p:cNvPr id="12" name="Text 3"/>
          <p:cNvSpPr txBox="1"/>
          <p:nvPr/>
        </p:nvSpPr>
        <p:spPr>
          <a:xfrm>
            <a:off x="6464807" y="237744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Finds files by name pattern</a:t>
            </a:r>
            <a:endParaRPr lang="en-US" sz="1600" dirty="0"/>
          </a:p>
        </p:txBody>
      </p:sp>
      <p:sp>
        <p:nvSpPr>
          <p:cNvPr id="13" name="Shape 1"/>
          <p:cNvSpPr/>
          <p:nvPr/>
        </p:nvSpPr>
        <p:spPr>
          <a:xfrm>
            <a:off x="9079992" y="169164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4" name="Text 2"/>
          <p:cNvSpPr txBox="1"/>
          <p:nvPr/>
        </p:nvSpPr>
        <p:spPr>
          <a:xfrm>
            <a:off x="9308592" y="187452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Edit</a:t>
            </a:r>
            <a:endParaRPr lang="en-US" sz="2400" dirty="0"/>
          </a:p>
        </p:txBody>
      </p:sp>
      <p:sp>
        <p:nvSpPr>
          <p:cNvPr id="15" name="Text 3"/>
          <p:cNvSpPr txBox="1"/>
          <p:nvPr/>
        </p:nvSpPr>
        <p:spPr>
          <a:xfrm>
            <a:off x="9308592" y="237744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Changes an exact piece of an existing file</a:t>
            </a:r>
            <a:endParaRPr lang="en-US" sz="1600" dirty="0"/>
          </a:p>
        </p:txBody>
      </p:sp>
      <p:sp>
        <p:nvSpPr>
          <p:cNvPr id="16" name="Shape 1"/>
          <p:cNvSpPr/>
          <p:nvPr/>
        </p:nvSpPr>
        <p:spPr>
          <a:xfrm>
            <a:off x="548640" y="388620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7" name="Text 2"/>
          <p:cNvSpPr txBox="1"/>
          <p:nvPr/>
        </p:nvSpPr>
        <p:spPr>
          <a:xfrm>
            <a:off x="777240" y="406908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Write</a:t>
            </a:r>
            <a:endParaRPr lang="en-US" sz="2400" dirty="0"/>
          </a:p>
        </p:txBody>
      </p:sp>
      <p:sp>
        <p:nvSpPr>
          <p:cNvPr id="18" name="Text 3"/>
          <p:cNvSpPr txBox="1"/>
          <p:nvPr/>
        </p:nvSpPr>
        <p:spPr>
          <a:xfrm>
            <a:off x="777240" y="457200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Creates or fully replaces a file</a:t>
            </a:r>
            <a:endParaRPr lang="en-US" sz="1600" dirty="0"/>
          </a:p>
        </p:txBody>
      </p:sp>
      <p:sp>
        <p:nvSpPr>
          <p:cNvPr id="19" name="Shape 1"/>
          <p:cNvSpPr/>
          <p:nvPr/>
        </p:nvSpPr>
        <p:spPr>
          <a:xfrm>
            <a:off x="3392424" y="388620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0" name="Text 2"/>
          <p:cNvSpPr txBox="1"/>
          <p:nvPr/>
        </p:nvSpPr>
        <p:spPr>
          <a:xfrm>
            <a:off x="3621024" y="406908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Bash</a:t>
            </a:r>
            <a:endParaRPr lang="en-US" sz="2400" dirty="0"/>
          </a:p>
        </p:txBody>
      </p:sp>
      <p:sp>
        <p:nvSpPr>
          <p:cNvPr id="21" name="Text 3"/>
          <p:cNvSpPr txBox="1"/>
          <p:nvPr/>
        </p:nvSpPr>
        <p:spPr>
          <a:xfrm>
            <a:off x="3621024" y="457200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Runs terminal commands: tests, git, uv</a:t>
            </a:r>
            <a:endParaRPr lang="en-US" sz="1600" dirty="0"/>
          </a:p>
        </p:txBody>
      </p:sp>
      <p:sp>
        <p:nvSpPr>
          <p:cNvPr id="22" name="Shape 1"/>
          <p:cNvSpPr/>
          <p:nvPr/>
        </p:nvSpPr>
        <p:spPr>
          <a:xfrm>
            <a:off x="6236207" y="388620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3" name="Text 2"/>
          <p:cNvSpPr txBox="1"/>
          <p:nvPr/>
        </p:nvSpPr>
        <p:spPr>
          <a:xfrm>
            <a:off x="6464807" y="406908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AskUserQuestion</a:t>
            </a:r>
            <a:endParaRPr lang="en-US" sz="2400" dirty="0"/>
          </a:p>
        </p:txBody>
      </p:sp>
      <p:sp>
        <p:nvSpPr>
          <p:cNvPr id="24" name="Text 3"/>
          <p:cNvSpPr txBox="1"/>
          <p:nvPr/>
        </p:nvSpPr>
        <p:spPr>
          <a:xfrm>
            <a:off x="6464807" y="457200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Asks you to choose between options</a:t>
            </a:r>
            <a:endParaRPr lang="en-US" sz="1600" dirty="0"/>
          </a:p>
        </p:txBody>
      </p:sp>
      <p:sp>
        <p:nvSpPr>
          <p:cNvPr id="26" name="Shape 1"/>
          <p:cNvSpPr/>
          <p:nvPr/>
        </p:nvSpPr>
        <p:spPr>
          <a:xfrm>
            <a:off x="9079992" y="388620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7" name="Text 2"/>
          <p:cNvSpPr txBox="1"/>
          <p:nvPr/>
        </p:nvSpPr>
        <p:spPr>
          <a:xfrm>
            <a:off x="9308592" y="406908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Agent</a:t>
            </a:r>
            <a:endParaRPr lang="en-US" sz="2400" dirty="0"/>
          </a:p>
        </p:txBody>
      </p:sp>
      <p:sp>
        <p:nvSpPr>
          <p:cNvPr id="28" name="Text 3"/>
          <p:cNvSpPr txBox="1"/>
          <p:nvPr/>
        </p:nvSpPr>
        <p:spPr>
          <a:xfrm>
            <a:off x="9308592" y="457200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Hands a task to a sub-agent</a:t>
            </a:r>
            <a:endParaRPr lang="en-US" sz="1600" dirty="0"/>
          </a:p>
        </p:txBody>
      </p:sp>
      <p:sp>
        <p:nvSpPr>
          <p:cNvPr id="25" name="Text 22"/>
          <p:cNvSpPr txBox="1"/>
          <p:nvPr/>
        </p:nvSpPr>
        <p:spPr>
          <a:xfrm>
            <a:off x="548640" y="5989320"/>
            <a:ext cx="10515600" cy="411480"/>
          </a:xfrm>
          <a:prstGeom prst="rect">
            <a:avLst/>
          </a:prstGeom>
          <a:noFill/>
          <a:ln/>
        </p:spPr>
        <p:txBody>
          <a:bodyPr wrap="square" lIns="1270" tIns="1270" rIns="1270" bIns="1270" rtlCol="0" anchor="ctr"/>
          <a:lstStyle/>
          <a:p>
            <a:pPr marL="0" indent="0">
              <a:buNone/>
            </a:pPr>
            <a:r>
              <a:rPr lang="en-US" sz="1800" dirty="0">
                <a:solidFill>
                  <a:srgbClr val="5EEAD4"/>
                </a:solidFill>
                <a:latin typeface="Calibri" pitchFamily="34" charset="0"/>
                <a:ea typeface="Calibri" pitchFamily="34" charset="-122"/>
                <a:cs typeface="Calibri" pitchFamily="34" charset="-120"/>
              </a:rPr>
              <a:t>Also: WebSearch, WebFetch, Skill... You decide which tools may run without asking (permissions).</a:t>
            </a:r>
            <a:endParaRPr lang="en-US" sz="18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Two front doors, same Claude: </a:t>
            </a:r>
            <a:r>
              <a:rPr lang="en-US" sz="3000" b="1" dirty="0">
                <a:solidFill>
                  <a:schemeClr val="accent2"/>
                </a:solidFill>
                <a:latin typeface="Calibri" pitchFamily="34" charset="0"/>
                <a:ea typeface="Calibri" pitchFamily="34" charset="-122"/>
                <a:cs typeface="Calibri" pitchFamily="34" charset="-120"/>
              </a:rPr>
              <a:t>extension and CLI</a:t>
            </a:r>
            <a:endParaRPr lang="en-US" sz="3000" dirty="0">
              <a:solidFill>
                <a:schemeClr val="accent2"/>
              </a:solidFill>
            </a:endParaRPr>
          </a:p>
        </p:txBody>
      </p:sp>
      <p:sp>
        <p:nvSpPr>
          <p:cNvPr id="4" name="Text 1"/>
          <p:cNvSpPr txBox="1"/>
          <p:nvPr/>
        </p:nvSpPr>
        <p:spPr>
          <a:xfrm>
            <a:off x="548640" y="1600200"/>
            <a:ext cx="5362956" cy="411480"/>
          </a:xfrm>
          <a:prstGeom prst="rect">
            <a:avLst/>
          </a:prstGeom>
          <a:noFill/>
          <a:ln/>
        </p:spPr>
        <p:txBody>
          <a:bodyPr wrap="square" lIns="0" tIns="0" rIns="0" bIns="0" rtlCol="0" anchor="ctr"/>
          <a:lstStyle/>
          <a:p>
            <a:pPr marL="0" indent="0">
              <a:buNone/>
            </a:pPr>
            <a:r>
              <a:rPr lang="en-US" sz="2400" b="1" dirty="0">
                <a:solidFill>
                  <a:schemeClr val="accent2"/>
                </a:solidFill>
                <a:latin typeface="Calibri" pitchFamily="34" charset="0"/>
                <a:ea typeface="Calibri" pitchFamily="34" charset="-122"/>
                <a:cs typeface="Calibri" pitchFamily="34" charset="-120"/>
              </a:rPr>
              <a:t>VS Code extension</a:t>
            </a:r>
            <a:endParaRPr lang="en-US" sz="2400" dirty="0">
              <a:solidFill>
                <a:schemeClr val="accent2"/>
              </a:solidFill>
            </a:endParaRPr>
          </a:p>
        </p:txBody>
      </p:sp>
      <p:sp>
        <p:nvSpPr>
          <p:cNvPr id="5" name="Text 2"/>
          <p:cNvSpPr txBox="1"/>
          <p:nvPr/>
        </p:nvSpPr>
        <p:spPr>
          <a:xfrm>
            <a:off x="548640" y="2057400"/>
            <a:ext cx="5362956" cy="6400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Chat panel on the right side, inline diffs, @-mention files</a:t>
            </a:r>
            <a:endParaRPr lang="en-US" sz="1600" dirty="0"/>
          </a:p>
        </p:txBody>
      </p:sp>
      <p:sp>
        <p:nvSpPr>
          <p:cNvPr id="6" name="Shape 3"/>
          <p:cNvSpPr/>
          <p:nvPr/>
        </p:nvSpPr>
        <p:spPr>
          <a:xfrm>
            <a:off x="548640" y="2788920"/>
            <a:ext cx="5362956" cy="2743200"/>
          </a:xfrm>
          <a:prstGeom prst="roundRect">
            <a:avLst>
              <a:gd name="adj" fmla="val 3333"/>
            </a:avLst>
          </a:prstGeom>
          <a:solidFill>
            <a:srgbClr val="081628"/>
          </a:solidFill>
          <a:ln w="19050">
            <a:solidFill>
              <a:srgbClr val="38BDF8"/>
            </a:solidFill>
            <a:prstDash val="dash"/>
          </a:ln>
        </p:spPr>
        <p:txBody>
          <a:bodyPr/>
          <a:lstStyle/>
          <a:p>
            <a:endParaRPr lang="en-US"/>
          </a:p>
        </p:txBody>
      </p:sp>
      <p:sp>
        <p:nvSpPr>
          <p:cNvPr id="7" name="Text 4"/>
          <p:cNvSpPr txBox="1"/>
          <p:nvPr/>
        </p:nvSpPr>
        <p:spPr>
          <a:xfrm>
            <a:off x="731520" y="2788920"/>
            <a:ext cx="4997196" cy="274320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Screenshot: Claude Code panel in VS Code (right side)</a:t>
            </a:r>
            <a:endParaRPr lang="en-US" sz="1400" dirty="0"/>
          </a:p>
        </p:txBody>
      </p:sp>
      <p:sp>
        <p:nvSpPr>
          <p:cNvPr id="8" name="Text 5"/>
          <p:cNvSpPr txBox="1"/>
          <p:nvPr/>
        </p:nvSpPr>
        <p:spPr>
          <a:xfrm>
            <a:off x="6277356" y="1600200"/>
            <a:ext cx="5362956" cy="411480"/>
          </a:xfrm>
          <a:prstGeom prst="rect">
            <a:avLst/>
          </a:prstGeom>
          <a:noFill/>
          <a:ln/>
        </p:spPr>
        <p:txBody>
          <a:bodyPr wrap="square" lIns="0" tIns="0" rIns="0" bIns="0" rtlCol="0" anchor="ctr"/>
          <a:lstStyle/>
          <a:p>
            <a:pPr marL="0" indent="0">
              <a:buNone/>
            </a:pPr>
            <a:r>
              <a:rPr lang="en-US" sz="2400" b="1" dirty="0">
                <a:solidFill>
                  <a:schemeClr val="accent2"/>
                </a:solidFill>
                <a:latin typeface="Calibri" pitchFamily="34" charset="0"/>
                <a:ea typeface="Calibri" pitchFamily="34" charset="-122"/>
                <a:cs typeface="Calibri" pitchFamily="34" charset="-120"/>
              </a:rPr>
              <a:t>CLI in a terminal</a:t>
            </a:r>
            <a:endParaRPr lang="en-US" sz="2400" dirty="0">
              <a:solidFill>
                <a:schemeClr val="accent2"/>
              </a:solidFill>
            </a:endParaRPr>
          </a:p>
        </p:txBody>
      </p:sp>
      <p:sp>
        <p:nvSpPr>
          <p:cNvPr id="9" name="Text 6"/>
          <p:cNvSpPr txBox="1"/>
          <p:nvPr/>
        </p:nvSpPr>
        <p:spPr>
          <a:xfrm>
            <a:off x="6277356" y="2057400"/>
            <a:ext cx="5362956" cy="6400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Run `claude` in any terminal, including the one inside VS Code</a:t>
            </a:r>
            <a:endParaRPr lang="en-US" sz="1600" dirty="0"/>
          </a:p>
        </p:txBody>
      </p:sp>
      <p:sp>
        <p:nvSpPr>
          <p:cNvPr id="10" name="Shape 7"/>
          <p:cNvSpPr/>
          <p:nvPr/>
        </p:nvSpPr>
        <p:spPr>
          <a:xfrm>
            <a:off x="6277356" y="2788920"/>
            <a:ext cx="5362956" cy="2743200"/>
          </a:xfrm>
          <a:prstGeom prst="roundRect">
            <a:avLst>
              <a:gd name="adj" fmla="val 3333"/>
            </a:avLst>
          </a:prstGeom>
          <a:solidFill>
            <a:srgbClr val="081628"/>
          </a:solidFill>
          <a:ln w="19050">
            <a:solidFill>
              <a:srgbClr val="38BDF8"/>
            </a:solidFill>
            <a:prstDash val="dash"/>
          </a:ln>
        </p:spPr>
        <p:txBody>
          <a:bodyPr/>
          <a:lstStyle/>
          <a:p>
            <a:endParaRPr lang="en-US"/>
          </a:p>
        </p:txBody>
      </p:sp>
      <p:sp>
        <p:nvSpPr>
          <p:cNvPr id="11" name="Text 8"/>
          <p:cNvSpPr txBox="1"/>
          <p:nvPr/>
        </p:nvSpPr>
        <p:spPr>
          <a:xfrm>
            <a:off x="6460236" y="2788920"/>
            <a:ext cx="4997196" cy="274320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Screenshot: terminal with `claude` running</a:t>
            </a:r>
            <a:endParaRPr lang="en-US" sz="1400" dirty="0"/>
          </a:p>
        </p:txBody>
      </p:sp>
      <p:sp>
        <p:nvSpPr>
          <p:cNvPr id="12" name="Text 9"/>
          <p:cNvSpPr txBox="1"/>
          <p:nvPr/>
        </p:nvSpPr>
        <p:spPr>
          <a:xfrm>
            <a:off x="548640" y="5760720"/>
            <a:ext cx="11091672" cy="411480"/>
          </a:xfrm>
          <a:prstGeom prst="rect">
            <a:avLst/>
          </a:prstGeom>
          <a:noFill/>
          <a:ln/>
        </p:spPr>
        <p:txBody>
          <a:bodyPr wrap="square" lIns="0" tIns="0" rIns="0" bIns="0" rtlCol="0" anchor="ctr"/>
          <a:lstStyle/>
          <a:p>
            <a:pPr marL="0" indent="0">
              <a:buNone/>
            </a:pPr>
            <a:r>
              <a:rPr lang="en-US" sz="1800" dirty="0">
                <a:solidFill>
                  <a:srgbClr val="5EEAD4"/>
                </a:solidFill>
                <a:latin typeface="Calibri" pitchFamily="34" charset="0"/>
                <a:ea typeface="Calibri" pitchFamily="34" charset="-122"/>
                <a:cs typeface="Calibri" pitchFamily="34" charset="-120"/>
              </a:rPr>
              <a:t>My split: extension for chat day-to-day, CLI for flags, agents and automation</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5</a:t>
            </a:fld>
            <a:endParaRPr lang="en-US"/>
          </a:p>
        </p:txBody>
      </p:sp>
      <p:pic>
        <p:nvPicPr>
          <p:cNvPr id="13" name="Imagem 12">
            <a:extLst>
              <a:ext uri="{FF2B5EF4-FFF2-40B4-BE49-F238E27FC236}">
                <a16:creationId xmlns:a16="http://schemas.microsoft.com/office/drawing/2014/main" id="{168F36E1-442C-CC17-65CD-69B3D6F23B24}"/>
              </a:ext>
            </a:extLst>
          </p:cNvPr>
          <p:cNvPicPr>
            <a:picLocks noChangeAspect="1"/>
          </p:cNvPicPr>
          <p:nvPr/>
        </p:nvPicPr>
        <p:blipFill>
          <a:blip r:embed="rId3"/>
          <a:stretch>
            <a:fillRect/>
          </a:stretch>
        </p:blipFill>
        <p:spPr>
          <a:xfrm>
            <a:off x="583649" y="3157369"/>
            <a:ext cx="5292938" cy="1917551"/>
          </a:xfrm>
          <a:prstGeom prst="rect">
            <a:avLst/>
          </a:prstGeom>
        </p:spPr>
      </p:pic>
      <p:pic>
        <p:nvPicPr>
          <p:cNvPr id="15" name="Imagem 14">
            <a:extLst>
              <a:ext uri="{FF2B5EF4-FFF2-40B4-BE49-F238E27FC236}">
                <a16:creationId xmlns:a16="http://schemas.microsoft.com/office/drawing/2014/main" id="{8DF59D52-2EB2-484B-1B3F-EB974FD10E1C}"/>
              </a:ext>
            </a:extLst>
          </p:cNvPr>
          <p:cNvPicPr>
            <a:picLocks noChangeAspect="1"/>
          </p:cNvPicPr>
          <p:nvPr/>
        </p:nvPicPr>
        <p:blipFill>
          <a:blip r:embed="rId4"/>
          <a:stretch>
            <a:fillRect/>
          </a:stretch>
        </p:blipFill>
        <p:spPr>
          <a:xfrm>
            <a:off x="6313485" y="3157369"/>
            <a:ext cx="5299395" cy="203679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Start in VS Code</a:t>
            </a:r>
            <a:r>
              <a:rPr lang="en-US" sz="3000" b="1" dirty="0">
                <a:solidFill>
                  <a:srgbClr val="F2F6FC"/>
                </a:solidFill>
                <a:latin typeface="Calibri" pitchFamily="34" charset="0"/>
                <a:ea typeface="Calibri" pitchFamily="34" charset="-122"/>
                <a:cs typeface="Calibri" pitchFamily="34" charset="-120"/>
              </a:rPr>
              <a:t>: open a folder, open the Claude panel</a:t>
            </a:r>
            <a:endParaRPr lang="en-US" sz="3000" dirty="0"/>
          </a:p>
        </p:txBody>
      </p:sp>
      <p:sp>
        <p:nvSpPr>
          <p:cNvPr id="4" name="Shape 1"/>
          <p:cNvSpPr/>
          <p:nvPr/>
        </p:nvSpPr>
        <p:spPr>
          <a:xfrm>
            <a:off x="548640" y="1600200"/>
            <a:ext cx="4937760" cy="1463040"/>
          </a:xfrm>
          <a:prstGeom prst="roundRect">
            <a:avLst>
              <a:gd name="adj" fmla="val 7500"/>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783080"/>
            <a:ext cx="44805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Step 1</a:t>
            </a:r>
            <a:endParaRPr lang="en-US" sz="1600" dirty="0"/>
          </a:p>
        </p:txBody>
      </p:sp>
      <p:sp>
        <p:nvSpPr>
          <p:cNvPr id="6" name="Text 3"/>
          <p:cNvSpPr txBox="1"/>
          <p:nvPr/>
        </p:nvSpPr>
        <p:spPr>
          <a:xfrm>
            <a:off x="777240" y="2167128"/>
            <a:ext cx="44805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File &gt; Open Folder...</a:t>
            </a:r>
            <a:endParaRPr lang="en-US" sz="2000" dirty="0"/>
          </a:p>
        </p:txBody>
      </p:sp>
      <p:sp>
        <p:nvSpPr>
          <p:cNvPr id="7" name="Text 4"/>
          <p:cNvSpPr txBox="1"/>
          <p:nvPr/>
        </p:nvSpPr>
        <p:spPr>
          <a:xfrm>
            <a:off x="777240" y="2670048"/>
            <a:ext cx="4480560" cy="25603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Claude only sees what is inside the folder.</a:t>
            </a:r>
            <a:endParaRPr lang="en-US" sz="1600" dirty="0"/>
          </a:p>
        </p:txBody>
      </p:sp>
      <p:sp>
        <p:nvSpPr>
          <p:cNvPr id="8" name="Shape 5"/>
          <p:cNvSpPr/>
          <p:nvPr/>
        </p:nvSpPr>
        <p:spPr>
          <a:xfrm>
            <a:off x="548640" y="3154680"/>
            <a:ext cx="4937760" cy="1463040"/>
          </a:xfrm>
          <a:prstGeom prst="roundRect">
            <a:avLst>
              <a:gd name="adj" fmla="val 7500"/>
            </a:avLst>
          </a:prstGeom>
          <a:solidFill>
            <a:srgbClr val="12305A"/>
          </a:solidFill>
          <a:ln w="12700">
            <a:solidFill>
              <a:srgbClr val="12305A"/>
            </a:solidFill>
            <a:prstDash val="solid"/>
          </a:ln>
        </p:spPr>
        <p:txBody>
          <a:bodyPr/>
          <a:lstStyle/>
          <a:p>
            <a:endParaRPr lang="en-US"/>
          </a:p>
        </p:txBody>
      </p:sp>
      <p:sp>
        <p:nvSpPr>
          <p:cNvPr id="9" name="Text 6"/>
          <p:cNvSpPr txBox="1"/>
          <p:nvPr/>
        </p:nvSpPr>
        <p:spPr>
          <a:xfrm>
            <a:off x="777240" y="3337560"/>
            <a:ext cx="44805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Step 2</a:t>
            </a:r>
            <a:endParaRPr lang="en-US" sz="1600" dirty="0"/>
          </a:p>
        </p:txBody>
      </p:sp>
      <p:sp>
        <p:nvSpPr>
          <p:cNvPr id="10" name="Text 7"/>
          <p:cNvSpPr txBox="1"/>
          <p:nvPr/>
        </p:nvSpPr>
        <p:spPr>
          <a:xfrm>
            <a:off x="777240" y="3721608"/>
            <a:ext cx="44805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Open the Claude panel</a:t>
            </a:r>
            <a:endParaRPr lang="en-US" sz="2000" dirty="0"/>
          </a:p>
        </p:txBody>
      </p:sp>
      <p:sp>
        <p:nvSpPr>
          <p:cNvPr id="11" name="Text 8"/>
          <p:cNvSpPr txBox="1"/>
          <p:nvPr/>
        </p:nvSpPr>
        <p:spPr>
          <a:xfrm>
            <a:off x="777240" y="4224528"/>
            <a:ext cx="4480560" cy="25603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Claude icon in the side menu (right side).</a:t>
            </a:r>
            <a:endParaRPr lang="en-US" sz="1600" dirty="0"/>
          </a:p>
        </p:txBody>
      </p:sp>
      <p:sp>
        <p:nvSpPr>
          <p:cNvPr id="12" name="Shape 9"/>
          <p:cNvSpPr/>
          <p:nvPr/>
        </p:nvSpPr>
        <p:spPr>
          <a:xfrm>
            <a:off x="548640" y="4709160"/>
            <a:ext cx="4937760" cy="1463040"/>
          </a:xfrm>
          <a:prstGeom prst="roundRect">
            <a:avLst>
              <a:gd name="adj" fmla="val 7500"/>
            </a:avLst>
          </a:prstGeom>
          <a:solidFill>
            <a:srgbClr val="12305A"/>
          </a:solidFill>
          <a:ln w="12700">
            <a:solidFill>
              <a:srgbClr val="12305A"/>
            </a:solidFill>
            <a:prstDash val="solid"/>
          </a:ln>
        </p:spPr>
        <p:txBody>
          <a:bodyPr/>
          <a:lstStyle/>
          <a:p>
            <a:endParaRPr lang="en-US"/>
          </a:p>
        </p:txBody>
      </p:sp>
      <p:sp>
        <p:nvSpPr>
          <p:cNvPr id="13" name="Text 10"/>
          <p:cNvSpPr txBox="1"/>
          <p:nvPr/>
        </p:nvSpPr>
        <p:spPr>
          <a:xfrm>
            <a:off x="777240" y="4892040"/>
            <a:ext cx="44805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Step 3</a:t>
            </a:r>
            <a:endParaRPr lang="en-US" sz="1600" dirty="0"/>
          </a:p>
        </p:txBody>
      </p:sp>
      <p:sp>
        <p:nvSpPr>
          <p:cNvPr id="14" name="Text 11"/>
          <p:cNvSpPr txBox="1"/>
          <p:nvPr/>
        </p:nvSpPr>
        <p:spPr>
          <a:xfrm>
            <a:off x="777240" y="5276088"/>
            <a:ext cx="44805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Describe a task</a:t>
            </a:r>
            <a:endParaRPr lang="en-US" sz="2000" dirty="0"/>
          </a:p>
        </p:txBody>
      </p:sp>
      <p:sp>
        <p:nvSpPr>
          <p:cNvPr id="15" name="Text 12"/>
          <p:cNvSpPr txBox="1"/>
          <p:nvPr/>
        </p:nvSpPr>
        <p:spPr>
          <a:xfrm>
            <a:off x="777240" y="5779008"/>
            <a:ext cx="4480560" cy="25603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Review diffs, then accept or push back.</a:t>
            </a:r>
            <a:endParaRPr lang="en-US" sz="1600" dirty="0"/>
          </a:p>
        </p:txBody>
      </p:sp>
      <p:sp>
        <p:nvSpPr>
          <p:cNvPr id="16" name="Shape 13"/>
          <p:cNvSpPr/>
          <p:nvPr/>
        </p:nvSpPr>
        <p:spPr>
          <a:xfrm>
            <a:off x="5852160" y="1645920"/>
            <a:ext cx="5788152" cy="2194560"/>
          </a:xfrm>
          <a:prstGeom prst="roundRect">
            <a:avLst>
              <a:gd name="adj" fmla="val 4167"/>
            </a:avLst>
          </a:prstGeom>
          <a:solidFill>
            <a:srgbClr val="081628"/>
          </a:solidFill>
          <a:ln w="19050">
            <a:solidFill>
              <a:srgbClr val="38BDF8"/>
            </a:solidFill>
            <a:prstDash val="dash"/>
          </a:ln>
        </p:spPr>
        <p:txBody>
          <a:bodyPr/>
          <a:lstStyle/>
          <a:p>
            <a:endParaRPr lang="en-US"/>
          </a:p>
        </p:txBody>
      </p:sp>
      <p:sp>
        <p:nvSpPr>
          <p:cNvPr id="17" name="Text 14"/>
          <p:cNvSpPr txBox="1"/>
          <p:nvPr/>
        </p:nvSpPr>
        <p:spPr>
          <a:xfrm>
            <a:off x="6035040" y="1645920"/>
            <a:ext cx="5422392" cy="219456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VS Code: File &gt; Open Folder...</a:t>
            </a:r>
            <a:endParaRPr lang="en-US" sz="1400" dirty="0"/>
          </a:p>
        </p:txBody>
      </p:sp>
      <p:sp>
        <p:nvSpPr>
          <p:cNvPr id="18" name="Shape 15"/>
          <p:cNvSpPr/>
          <p:nvPr/>
        </p:nvSpPr>
        <p:spPr>
          <a:xfrm>
            <a:off x="5852160" y="4023360"/>
            <a:ext cx="5788152" cy="2194560"/>
          </a:xfrm>
          <a:prstGeom prst="roundRect">
            <a:avLst>
              <a:gd name="adj" fmla="val 4167"/>
            </a:avLst>
          </a:prstGeom>
          <a:solidFill>
            <a:srgbClr val="081628"/>
          </a:solidFill>
          <a:ln w="19050">
            <a:solidFill>
              <a:srgbClr val="38BDF8"/>
            </a:solidFill>
            <a:prstDash val="dash"/>
          </a:ln>
        </p:spPr>
        <p:txBody>
          <a:bodyPr/>
          <a:lstStyle/>
          <a:p>
            <a:endParaRPr lang="en-US"/>
          </a:p>
        </p:txBody>
      </p:sp>
      <p:sp>
        <p:nvSpPr>
          <p:cNvPr id="19" name="Text 16"/>
          <p:cNvSpPr txBox="1"/>
          <p:nvPr/>
        </p:nvSpPr>
        <p:spPr>
          <a:xfrm>
            <a:off x="6035040" y="4023360"/>
            <a:ext cx="5422392" cy="219456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Claude Code panel, side menu</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6</a:t>
            </a:fld>
            <a:endParaRPr lang="en-US"/>
          </a:p>
        </p:txBody>
      </p:sp>
      <p:pic>
        <p:nvPicPr>
          <p:cNvPr id="22" name="Imagem 21">
            <a:extLst>
              <a:ext uri="{FF2B5EF4-FFF2-40B4-BE49-F238E27FC236}">
                <a16:creationId xmlns:a16="http://schemas.microsoft.com/office/drawing/2014/main" id="{B438BE29-EA2F-2546-DD7B-1E3C9C4B7E5A}"/>
              </a:ext>
            </a:extLst>
          </p:cNvPr>
          <p:cNvPicPr>
            <a:picLocks noChangeAspect="1"/>
          </p:cNvPicPr>
          <p:nvPr/>
        </p:nvPicPr>
        <p:blipFill>
          <a:blip r:embed="rId3"/>
          <a:stretch>
            <a:fillRect/>
          </a:stretch>
        </p:blipFill>
        <p:spPr>
          <a:xfrm>
            <a:off x="7249397" y="1645920"/>
            <a:ext cx="2993678" cy="2181943"/>
          </a:xfrm>
          <a:prstGeom prst="rect">
            <a:avLst/>
          </a:prstGeom>
        </p:spPr>
      </p:pic>
      <p:pic>
        <p:nvPicPr>
          <p:cNvPr id="24" name="Imagem 23">
            <a:extLst>
              <a:ext uri="{FF2B5EF4-FFF2-40B4-BE49-F238E27FC236}">
                <a16:creationId xmlns:a16="http://schemas.microsoft.com/office/drawing/2014/main" id="{077BAA99-7EC3-DB2F-655E-879A96207FBB}"/>
              </a:ext>
            </a:extLst>
          </p:cNvPr>
          <p:cNvPicPr>
            <a:picLocks noChangeAspect="1"/>
          </p:cNvPicPr>
          <p:nvPr/>
        </p:nvPicPr>
        <p:blipFill>
          <a:blip r:embed="rId4"/>
          <a:stretch>
            <a:fillRect/>
          </a:stretch>
        </p:blipFill>
        <p:spPr>
          <a:xfrm>
            <a:off x="7468228" y="4042723"/>
            <a:ext cx="2556015" cy="218147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Start the CLI</a:t>
            </a:r>
            <a:r>
              <a:rPr lang="en-US" sz="3000" b="1" dirty="0">
                <a:solidFill>
                  <a:srgbClr val="F2F6FC"/>
                </a:solidFill>
                <a:latin typeface="Calibri" pitchFamily="34" charset="0"/>
                <a:ea typeface="Calibri" pitchFamily="34" charset="-122"/>
                <a:cs typeface="Calibri" pitchFamily="34" charset="-120"/>
              </a:rPr>
              <a:t>: one word in any terminal</a:t>
            </a:r>
            <a:endParaRPr lang="en-US" sz="3000" dirty="0"/>
          </a:p>
        </p:txBody>
      </p:sp>
      <p:sp>
        <p:nvSpPr>
          <p:cNvPr id="4" name="Shape 1"/>
          <p:cNvSpPr/>
          <p:nvPr/>
        </p:nvSpPr>
        <p:spPr>
          <a:xfrm>
            <a:off x="548640" y="1645920"/>
            <a:ext cx="4937760" cy="4480560"/>
          </a:xfrm>
          <a:prstGeom prst="roundRect">
            <a:avLst>
              <a:gd name="adj" fmla="val 2449"/>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828800"/>
            <a:ext cx="4480560"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Three moves</a:t>
            </a:r>
            <a:endParaRPr lang="en-US" sz="2400" dirty="0"/>
          </a:p>
        </p:txBody>
      </p:sp>
      <p:sp>
        <p:nvSpPr>
          <p:cNvPr id="6" name="Text 3"/>
          <p:cNvSpPr txBox="1"/>
          <p:nvPr/>
        </p:nvSpPr>
        <p:spPr>
          <a:xfrm>
            <a:off x="777240" y="2331720"/>
            <a:ext cx="4480560" cy="365760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Open a terminal (VS Code: </a:t>
            </a:r>
            <a:r>
              <a:rPr lang="en-US" sz="1800">
                <a:solidFill>
                  <a:srgbClr val="A9BCD6"/>
                </a:solidFill>
                <a:latin typeface="Calibri" pitchFamily="34" charset="0"/>
                <a:ea typeface="Calibri" pitchFamily="34" charset="-122"/>
                <a:cs typeface="Calibri" pitchFamily="34" charset="-120"/>
              </a:rPr>
              <a:t>Ctrl+`)</a:t>
            </a:r>
          </a:p>
          <a:p>
            <a:pPr marL="800100" lvl="1" indent="-342900">
              <a:spcAft>
                <a:spcPts val="600"/>
              </a:spcAft>
              <a:buSzPct val="100000"/>
              <a:buChar char="•"/>
            </a:pPr>
            <a:r>
              <a:rPr lang="en-US">
                <a:solidFill>
                  <a:srgbClr val="A9BCD6"/>
                </a:solidFill>
                <a:latin typeface="Calibri" pitchFamily="34" charset="0"/>
                <a:ea typeface="Calibri" pitchFamily="34" charset="-122"/>
                <a:cs typeface="Calibri" pitchFamily="34" charset="-120"/>
              </a:rPr>
              <a:t>Or go to ‘Terminal’→ ‘New Terminal’</a:t>
            </a:r>
            <a:endParaRPr lang="en-US" dirty="0"/>
          </a:p>
          <a:p>
            <a:pPr marL="342900" indent="-342900">
              <a:spcAft>
                <a:spcPts val="600"/>
              </a:spcAft>
              <a:buSzPct val="100000"/>
              <a:buChar char="•"/>
            </a:pPr>
            <a:r>
              <a:rPr lang="en-US" sz="1800">
                <a:solidFill>
                  <a:srgbClr val="A9BCD6"/>
                </a:solidFill>
                <a:latin typeface="Calibri" pitchFamily="34" charset="0"/>
                <a:ea typeface="Calibri" pitchFamily="34" charset="-122"/>
                <a:cs typeface="Calibri" pitchFamily="34" charset="-120"/>
              </a:rPr>
              <a:t>Open folder </a:t>
            </a:r>
          </a:p>
          <a:p>
            <a:pPr marL="800100" lvl="1" indent="-342900">
              <a:spcAft>
                <a:spcPts val="600"/>
              </a:spcAft>
              <a:buSzPct val="100000"/>
              <a:buChar char="•"/>
            </a:pPr>
            <a:r>
              <a:rPr lang="en-US">
                <a:solidFill>
                  <a:srgbClr val="A9BCD6"/>
                </a:solidFill>
                <a:latin typeface="Calibri" pitchFamily="34" charset="0"/>
                <a:ea typeface="Calibri" pitchFamily="34" charset="-122"/>
                <a:cs typeface="Calibri" pitchFamily="34" charset="-120"/>
              </a:rPr>
              <a:t>Or cd </a:t>
            </a:r>
            <a:r>
              <a:rPr lang="en-US" dirty="0">
                <a:solidFill>
                  <a:srgbClr val="A9BCD6"/>
                </a:solidFill>
                <a:latin typeface="Calibri" pitchFamily="34" charset="0"/>
                <a:ea typeface="Calibri" pitchFamily="34" charset="-122"/>
                <a:cs typeface="Calibri" pitchFamily="34" charset="-120"/>
              </a:rPr>
              <a:t>into your project folder</a:t>
            </a:r>
            <a:endParaRPr lang="en-US" dirty="0"/>
          </a:p>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Type claude and press Enter</a:t>
            </a:r>
            <a:endParaRPr lang="en-US" sz="1800" dirty="0"/>
          </a:p>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Type / to see every slash command</a:t>
            </a:r>
            <a:endParaRPr lang="en-US" sz="1800" dirty="0"/>
          </a:p>
        </p:txBody>
      </p:sp>
      <p:sp>
        <p:nvSpPr>
          <p:cNvPr id="7" name="Shape 4"/>
          <p:cNvSpPr/>
          <p:nvPr/>
        </p:nvSpPr>
        <p:spPr>
          <a:xfrm>
            <a:off x="5852160" y="1645920"/>
            <a:ext cx="5788152" cy="4480560"/>
          </a:xfrm>
          <a:prstGeom prst="roundRect">
            <a:avLst>
              <a:gd name="adj" fmla="val 2041"/>
            </a:avLst>
          </a:prstGeom>
          <a:solidFill>
            <a:srgbClr val="081628"/>
          </a:solidFill>
          <a:ln w="19050">
            <a:solidFill>
              <a:srgbClr val="38BDF8"/>
            </a:solidFill>
            <a:prstDash val="dash"/>
          </a:ln>
        </p:spPr>
        <p:txBody>
          <a:bodyPr/>
          <a:lstStyle/>
          <a:p>
            <a:endParaRPr lang="en-US"/>
          </a:p>
        </p:txBody>
      </p:sp>
      <p:sp>
        <p:nvSpPr>
          <p:cNvPr id="8" name="Text 5"/>
          <p:cNvSpPr txBox="1"/>
          <p:nvPr/>
        </p:nvSpPr>
        <p:spPr>
          <a:xfrm>
            <a:off x="6035040" y="1645920"/>
            <a:ext cx="5422392" cy="448056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Terminal with `claude` started in a project folder</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7</a:t>
            </a:fld>
            <a:endParaRPr lang="en-US"/>
          </a:p>
        </p:txBody>
      </p:sp>
      <p:pic>
        <p:nvPicPr>
          <p:cNvPr id="11" name="Imagem 10">
            <a:extLst>
              <a:ext uri="{FF2B5EF4-FFF2-40B4-BE49-F238E27FC236}">
                <a16:creationId xmlns:a16="http://schemas.microsoft.com/office/drawing/2014/main" id="{5870528D-2CEF-FC30-F783-5224CCF810F1}"/>
              </a:ext>
            </a:extLst>
          </p:cNvPr>
          <p:cNvPicPr>
            <a:picLocks noChangeAspect="1"/>
          </p:cNvPicPr>
          <p:nvPr/>
        </p:nvPicPr>
        <p:blipFill>
          <a:blip r:embed="rId3"/>
          <a:stretch>
            <a:fillRect/>
          </a:stretch>
        </p:blipFill>
        <p:spPr>
          <a:xfrm>
            <a:off x="5852160" y="1645920"/>
            <a:ext cx="5788152" cy="1469774"/>
          </a:xfrm>
          <a:prstGeom prst="rect">
            <a:avLst/>
          </a:prstGeom>
        </p:spPr>
      </p:pic>
      <p:pic>
        <p:nvPicPr>
          <p:cNvPr id="13" name="Imagem 12">
            <a:extLst>
              <a:ext uri="{FF2B5EF4-FFF2-40B4-BE49-F238E27FC236}">
                <a16:creationId xmlns:a16="http://schemas.microsoft.com/office/drawing/2014/main" id="{39B24E7D-4E42-1533-A65D-34069562AD03}"/>
              </a:ext>
            </a:extLst>
          </p:cNvPr>
          <p:cNvPicPr>
            <a:picLocks noChangeAspect="1"/>
          </p:cNvPicPr>
          <p:nvPr/>
        </p:nvPicPr>
        <p:blipFill>
          <a:blip r:embed="rId4"/>
          <a:stretch>
            <a:fillRect/>
          </a:stretch>
        </p:blipFill>
        <p:spPr>
          <a:xfrm>
            <a:off x="5852160" y="3655176"/>
            <a:ext cx="5788151" cy="247130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822960" y="2697480"/>
            <a:ext cx="1371600" cy="1371600"/>
          </a:xfrm>
          <a:prstGeom prst="ellipse">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697480"/>
            <a:ext cx="1371600" cy="1371600"/>
          </a:xfrm>
          <a:prstGeom prst="rect">
            <a:avLst/>
          </a:prstGeom>
          <a:noFill/>
        </p:spPr>
        <p:txBody>
          <a:bodyPr wrap="square" lIns="0" tIns="0" rIns="0" bIns="0" anchor="ctr">
            <a:spAutoFit/>
          </a:bodyPr>
          <a:lstStyle/>
          <a:p>
            <a:pPr algn="ctr"/>
            <a:r>
              <a:rPr sz="6000" b="1">
                <a:solidFill>
                  <a:srgbClr val="0B1F3A"/>
                </a:solidFill>
                <a:latin typeface="Calibri"/>
              </a:rPr>
              <a:t>2</a:t>
            </a:r>
          </a:p>
        </p:txBody>
      </p:sp>
      <p:sp>
        <p:nvSpPr>
          <p:cNvPr id="4" name="TextBox 3"/>
          <p:cNvSpPr txBox="1"/>
          <p:nvPr/>
        </p:nvSpPr>
        <p:spPr>
          <a:xfrm>
            <a:off x="2651760" y="2606040"/>
            <a:ext cx="5486400" cy="914400"/>
          </a:xfrm>
          <a:prstGeom prst="rect">
            <a:avLst/>
          </a:prstGeom>
          <a:noFill/>
        </p:spPr>
        <p:txBody>
          <a:bodyPr wrap="square" lIns="0" tIns="0" rIns="0" bIns="0" anchor="ctr">
            <a:spAutoFit/>
          </a:bodyPr>
          <a:lstStyle/>
          <a:p>
            <a:pPr algn="l"/>
            <a:r>
              <a:rPr sz="5400" b="1">
                <a:solidFill>
                  <a:srgbClr val="F2F6FC"/>
                </a:solidFill>
                <a:latin typeface="Calibri"/>
              </a:rPr>
              <a:t>Configure</a:t>
            </a:r>
          </a:p>
        </p:txBody>
      </p:sp>
      <p:sp>
        <p:nvSpPr>
          <p:cNvPr id="5" name="TextBox 4"/>
          <p:cNvSpPr txBox="1"/>
          <p:nvPr/>
        </p:nvSpPr>
        <p:spPr>
          <a:xfrm>
            <a:off x="2651760" y="3611880"/>
            <a:ext cx="5486400" cy="822960"/>
          </a:xfrm>
          <a:prstGeom prst="rect">
            <a:avLst/>
          </a:prstGeom>
          <a:noFill/>
        </p:spPr>
        <p:txBody>
          <a:bodyPr wrap="square" lIns="0" tIns="0" rIns="0" bIns="0" anchor="t">
            <a:spAutoFit/>
          </a:bodyPr>
          <a:lstStyle/>
          <a:p>
            <a:pPr algn="l"/>
            <a:r>
              <a:rPr sz="2200" b="0">
                <a:solidFill>
                  <a:srgbClr val="A9BCD6"/>
                </a:solidFill>
                <a:latin typeface="Calibri"/>
              </a:rPr>
              <a:t>Shape how Claude behaves in your project</a:t>
            </a:r>
          </a:p>
        </p:txBody>
      </p:sp>
      <p:sp>
        <p:nvSpPr>
          <p:cNvPr id="6" name="Rounded Rectangle 5"/>
          <p:cNvSpPr/>
          <p:nvPr/>
        </p:nvSpPr>
        <p:spPr>
          <a:xfrm>
            <a:off x="8412480" y="1737360"/>
            <a:ext cx="3246120" cy="3383280"/>
          </a:xfrm>
          <a:prstGeom prst="roundRect">
            <a:avLst>
              <a:gd name="adj" fmla="val 6000"/>
            </a:avLst>
          </a:prstGeom>
          <a:solidFill>
            <a:srgbClr val="1230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0" y="1965960"/>
            <a:ext cx="2743200" cy="365760"/>
          </a:xfrm>
          <a:prstGeom prst="rect">
            <a:avLst/>
          </a:prstGeom>
          <a:noFill/>
        </p:spPr>
        <p:txBody>
          <a:bodyPr wrap="square" lIns="0" tIns="0" rIns="0" bIns="0" anchor="t">
            <a:spAutoFit/>
          </a:bodyPr>
          <a:lstStyle/>
          <a:p>
            <a:pPr algn="l"/>
            <a:r>
              <a:rPr sz="1600" b="1">
                <a:solidFill>
                  <a:srgbClr val="38BDF8"/>
                </a:solidFill>
                <a:latin typeface="Calibri"/>
              </a:rPr>
              <a:t>In this section</a:t>
            </a:r>
          </a:p>
        </p:txBody>
      </p:sp>
      <p:sp>
        <p:nvSpPr>
          <p:cNvPr id="8" name="TextBox 7"/>
          <p:cNvSpPr txBox="1"/>
          <p:nvPr/>
        </p:nvSpPr>
        <p:spPr>
          <a:xfrm>
            <a:off x="8686800" y="2423160"/>
            <a:ext cx="2743200" cy="2560320"/>
          </a:xfrm>
          <a:prstGeom prst="rect">
            <a:avLst/>
          </a:prstGeom>
          <a:noFill/>
        </p:spPr>
        <p:txBody>
          <a:bodyPr wrap="square" lIns="0" tIns="0" rIns="0" bIns="0" anchor="t">
            <a:spAutoFit/>
          </a:bodyPr>
          <a:lstStyle/>
          <a:p>
            <a:pPr algn="l"/>
            <a:r>
              <a:rPr sz="1800" b="0">
                <a:solidFill>
                  <a:srgbClr val="F2F6FC"/>
                </a:solidFill>
                <a:latin typeface="Calibri"/>
              </a:rPr>
              <a:t>.claude/ folder</a:t>
            </a:r>
          </a:p>
          <a:p>
            <a:pPr>
              <a:spcBef>
                <a:spcPts val="800"/>
              </a:spcBef>
            </a:pPr>
            <a:r>
              <a:rPr sz="1800">
                <a:solidFill>
                  <a:srgbClr val="F2F6FC"/>
                </a:solidFill>
                <a:latin typeface="Calibri"/>
              </a:rPr>
              <a:t>CLAUDE.md</a:t>
            </a:r>
          </a:p>
          <a:p>
            <a:pPr>
              <a:spcBef>
                <a:spcPts val="800"/>
              </a:spcBef>
            </a:pPr>
            <a:r>
              <a:rPr sz="1800">
                <a:solidFill>
                  <a:srgbClr val="F2F6FC"/>
                </a:solidFill>
                <a:latin typeface="Calibri"/>
              </a:rPr>
              <a:t>Skills, rules, hooks</a:t>
            </a:r>
          </a:p>
          <a:p>
            <a:pPr>
              <a:spcBef>
                <a:spcPts val="800"/>
              </a:spcBef>
            </a:pPr>
            <a:r>
              <a:rPr sz="1800">
                <a:solidFill>
                  <a:srgbClr val="F2F6FC"/>
                </a:solidFill>
                <a:latin typeface="Calibri"/>
              </a:rPr>
              <a:t>My skills</a:t>
            </a:r>
          </a:p>
          <a:p>
            <a:pPr>
              <a:spcBef>
                <a:spcPts val="800"/>
              </a:spcBef>
            </a:pPr>
            <a:r>
              <a:rPr sz="1800">
                <a:solidFill>
                  <a:srgbClr val="F2F6FC"/>
                </a:solidFill>
                <a:latin typeface="Calibri"/>
              </a:rPr>
              <a:t>Agents</a:t>
            </a:r>
          </a:p>
          <a:p>
            <a:pPr>
              <a:spcBef>
                <a:spcPts val="800"/>
              </a:spcBef>
            </a:pPr>
            <a:r>
              <a:rPr sz="1800">
                <a:solidFill>
                  <a:srgbClr val="F2F6FC"/>
                </a:solidFill>
                <a:latin typeface="Calibri"/>
              </a:rPr>
              <a:t>Hooks and settings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The </a:t>
            </a:r>
            <a:r>
              <a:rPr lang="en-US" sz="3000" b="1" dirty="0">
                <a:solidFill>
                  <a:schemeClr val="accent2"/>
                </a:solidFill>
                <a:latin typeface="Calibri" pitchFamily="34" charset="0"/>
                <a:ea typeface="Calibri" pitchFamily="34" charset="-122"/>
                <a:cs typeface="Calibri" pitchFamily="34" charset="-120"/>
              </a:rPr>
              <a:t>.claude/ folder </a:t>
            </a:r>
            <a:r>
              <a:rPr lang="en-US" sz="3000" b="1" dirty="0">
                <a:solidFill>
                  <a:srgbClr val="F2F6FC"/>
                </a:solidFill>
                <a:latin typeface="Calibri" pitchFamily="34" charset="0"/>
                <a:ea typeface="Calibri" pitchFamily="34" charset="-122"/>
                <a:cs typeface="Calibri" pitchFamily="34" charset="-120"/>
              </a:rPr>
              <a:t>is where you shape Claude's behavior</a:t>
            </a:r>
            <a:endParaRPr lang="en-US" sz="3000" dirty="0"/>
          </a:p>
        </p:txBody>
      </p:sp>
      <p:sp>
        <p:nvSpPr>
          <p:cNvPr id="4" name="Shape 1"/>
          <p:cNvSpPr/>
          <p:nvPr/>
        </p:nvSpPr>
        <p:spPr>
          <a:xfrm>
            <a:off x="548640" y="1645920"/>
            <a:ext cx="5120640" cy="4480560"/>
          </a:xfrm>
          <a:prstGeom prst="roundRect">
            <a:avLst>
              <a:gd name="adj" fmla="val 2041"/>
            </a:avLst>
          </a:prstGeom>
          <a:solidFill>
            <a:srgbClr val="081628"/>
          </a:solidFill>
          <a:ln w="12700">
            <a:solidFill>
              <a:srgbClr val="1E3F6F"/>
            </a:solidFill>
            <a:prstDash val="solid"/>
          </a:ln>
        </p:spPr>
        <p:txBody>
          <a:bodyPr/>
          <a:lstStyle/>
          <a:p>
            <a:endParaRPr lang="en-US"/>
          </a:p>
        </p:txBody>
      </p:sp>
      <p:sp>
        <p:nvSpPr>
          <p:cNvPr id="5" name="Text 2"/>
          <p:cNvSpPr txBox="1"/>
          <p:nvPr/>
        </p:nvSpPr>
        <p:spPr>
          <a:xfrm>
            <a:off x="777240" y="1783080"/>
            <a:ext cx="4663440" cy="4206240"/>
          </a:xfrm>
          <a:prstGeom prst="rect">
            <a:avLst/>
          </a:prstGeom>
          <a:noFill/>
          <a:ln/>
        </p:spPr>
        <p:txBody>
          <a:bodyPr wrap="square" lIns="0" tIns="0" rIns="0" bIns="0" rtlCol="0" anchor="t"/>
          <a:lstStyle/>
          <a:p>
            <a:pPr marL="0" indent="0">
              <a:buNone/>
            </a:pPr>
            <a:r>
              <a:rPr lang="en-US" sz="1600" dirty="0">
                <a:solidFill>
                  <a:srgbClr val="F2F6FC"/>
                </a:solidFill>
                <a:latin typeface="Courier New" pitchFamily="34" charset="0"/>
                <a:ea typeface="Courier New" pitchFamily="34" charset="-122"/>
                <a:cs typeface="Courier New" pitchFamily="34" charset="-120"/>
              </a:rPr>
              <a:t>.claude/</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settings.json</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settings.local.json</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agents/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summarizer.md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skills/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my-skill/SKILL.md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rules/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style.md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commands/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CLAUDE.md  (project root)</a:t>
            </a:r>
            <a:endParaRPr lang="en-US" sz="1600" dirty="0"/>
          </a:p>
        </p:txBody>
      </p:sp>
      <p:sp>
        <p:nvSpPr>
          <p:cNvPr id="6" name="Text 3"/>
          <p:cNvSpPr txBox="1"/>
          <p:nvPr/>
        </p:nvSpPr>
        <p:spPr>
          <a:xfrm>
            <a:off x="5943600" y="164592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settings.json</a:t>
            </a:r>
            <a:endParaRPr lang="en-US" sz="1400" dirty="0"/>
          </a:p>
        </p:txBody>
      </p:sp>
      <p:sp>
        <p:nvSpPr>
          <p:cNvPr id="7" name="Text 4"/>
          <p:cNvSpPr txBox="1"/>
          <p:nvPr/>
        </p:nvSpPr>
        <p:spPr>
          <a:xfrm>
            <a:off x="8183880" y="164592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Permissions, hooks, env. Shared via git</a:t>
            </a:r>
            <a:endParaRPr lang="en-US" sz="1600" dirty="0"/>
          </a:p>
        </p:txBody>
      </p:sp>
      <p:sp>
        <p:nvSpPr>
          <p:cNvPr id="8" name="Text 5"/>
          <p:cNvSpPr txBox="1"/>
          <p:nvPr/>
        </p:nvSpPr>
        <p:spPr>
          <a:xfrm>
            <a:off x="5943600" y="228600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settings.local.json</a:t>
            </a:r>
            <a:endParaRPr lang="en-US" sz="1400" dirty="0"/>
          </a:p>
        </p:txBody>
      </p:sp>
      <p:sp>
        <p:nvSpPr>
          <p:cNvPr id="9" name="Text 6"/>
          <p:cNvSpPr txBox="1"/>
          <p:nvPr/>
        </p:nvSpPr>
        <p:spPr>
          <a:xfrm>
            <a:off x="8183880" y="228600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Your personal overrides, not committed</a:t>
            </a:r>
            <a:endParaRPr lang="en-US" sz="1600" dirty="0"/>
          </a:p>
        </p:txBody>
      </p:sp>
      <p:sp>
        <p:nvSpPr>
          <p:cNvPr id="10" name="Text 7"/>
          <p:cNvSpPr txBox="1"/>
          <p:nvPr/>
        </p:nvSpPr>
        <p:spPr>
          <a:xfrm>
            <a:off x="5943600" y="292608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agents/</a:t>
            </a:r>
            <a:endParaRPr lang="en-US" sz="1400" dirty="0"/>
          </a:p>
        </p:txBody>
      </p:sp>
      <p:sp>
        <p:nvSpPr>
          <p:cNvPr id="11" name="Text 8"/>
          <p:cNvSpPr txBox="1"/>
          <p:nvPr/>
        </p:nvSpPr>
        <p:spPr>
          <a:xfrm>
            <a:off x="8183880" y="292608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Sub-agents, one markdown file each</a:t>
            </a:r>
            <a:endParaRPr lang="en-US" sz="1600" dirty="0"/>
          </a:p>
        </p:txBody>
      </p:sp>
      <p:sp>
        <p:nvSpPr>
          <p:cNvPr id="12" name="Text 9"/>
          <p:cNvSpPr txBox="1"/>
          <p:nvPr/>
        </p:nvSpPr>
        <p:spPr>
          <a:xfrm>
            <a:off x="5943600" y="356616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skills/</a:t>
            </a:r>
            <a:endParaRPr lang="en-US" sz="1400" dirty="0"/>
          </a:p>
        </p:txBody>
      </p:sp>
      <p:sp>
        <p:nvSpPr>
          <p:cNvPr id="13" name="Text 10"/>
          <p:cNvSpPr txBox="1"/>
          <p:nvPr/>
        </p:nvSpPr>
        <p:spPr>
          <a:xfrm>
            <a:off x="8183880" y="356616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Repeatable playbooks, one folder each</a:t>
            </a:r>
            <a:endParaRPr lang="en-US" sz="1600" dirty="0"/>
          </a:p>
        </p:txBody>
      </p:sp>
      <p:sp>
        <p:nvSpPr>
          <p:cNvPr id="14" name="Text 11"/>
          <p:cNvSpPr txBox="1"/>
          <p:nvPr/>
        </p:nvSpPr>
        <p:spPr>
          <a:xfrm>
            <a:off x="5943600" y="420624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rules/</a:t>
            </a:r>
            <a:endParaRPr lang="en-US" sz="1400" dirty="0"/>
          </a:p>
        </p:txBody>
      </p:sp>
      <p:sp>
        <p:nvSpPr>
          <p:cNvPr id="15" name="Text 12"/>
          <p:cNvSpPr txBox="1"/>
          <p:nvPr/>
        </p:nvSpPr>
        <p:spPr>
          <a:xfrm>
            <a:off x="8183880" y="420624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Small focused instruction files</a:t>
            </a:r>
            <a:endParaRPr lang="en-US" sz="1600" dirty="0"/>
          </a:p>
        </p:txBody>
      </p:sp>
      <p:sp>
        <p:nvSpPr>
          <p:cNvPr id="16" name="Text 13"/>
          <p:cNvSpPr txBox="1"/>
          <p:nvPr/>
        </p:nvSpPr>
        <p:spPr>
          <a:xfrm>
            <a:off x="5943600" y="484632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commands/</a:t>
            </a:r>
            <a:endParaRPr lang="en-US" sz="1400" dirty="0"/>
          </a:p>
        </p:txBody>
      </p:sp>
      <p:sp>
        <p:nvSpPr>
          <p:cNvPr id="17" name="Text 14"/>
          <p:cNvSpPr txBox="1"/>
          <p:nvPr/>
        </p:nvSpPr>
        <p:spPr>
          <a:xfrm>
            <a:off x="8183880" y="484632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Your own slash commands</a:t>
            </a:r>
            <a:endParaRPr lang="en-US" sz="1600" dirty="0"/>
          </a:p>
        </p:txBody>
      </p:sp>
      <p:sp>
        <p:nvSpPr>
          <p:cNvPr id="18" name="Text 15"/>
          <p:cNvSpPr txBox="1"/>
          <p:nvPr/>
        </p:nvSpPr>
        <p:spPr>
          <a:xfrm>
            <a:off x="5943600" y="5577840"/>
            <a:ext cx="5669280" cy="548640"/>
          </a:xfrm>
          <a:prstGeom prst="rect">
            <a:avLst/>
          </a:prstGeom>
          <a:noFill/>
          <a:ln/>
        </p:spPr>
        <p:txBody>
          <a:bodyPr wrap="square" lIns="0" tIns="0" rIns="0" bIns="0" rtlCol="0" anchor="ctr"/>
          <a:lstStyle/>
          <a:p>
            <a:pPr marL="0" indent="0">
              <a:buNone/>
            </a:pPr>
            <a:r>
              <a:rPr lang="en-US" sz="1600" dirty="0">
                <a:solidFill>
                  <a:srgbClr val="5EEAD4"/>
                </a:solidFill>
                <a:latin typeface="Calibri" pitchFamily="34" charset="0"/>
                <a:ea typeface="Calibri" pitchFamily="34" charset="-122"/>
                <a:cs typeface="Calibri" pitchFamily="34" charset="-120"/>
              </a:rPr>
              <a:t>Same layout in ~/.claude/ applies to all your projects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F8A2B"/>
                </a:solidFill>
                <a:latin typeface="Calibri" pitchFamily="34" charset="0"/>
                <a:ea typeface="Calibri" pitchFamily="34" charset="-122"/>
                <a:cs typeface="Calibri" pitchFamily="34" charset="-120"/>
              </a:rPr>
              <a:t>CLAUDE.md</a:t>
            </a:r>
            <a:r>
              <a:rPr lang="en-US" sz="3000" b="1" dirty="0">
                <a:solidFill>
                  <a:srgbClr val="F2F6FC"/>
                </a:solidFill>
                <a:latin typeface="Calibri" pitchFamily="34" charset="0"/>
                <a:ea typeface="Calibri" pitchFamily="34" charset="-122"/>
                <a:cs typeface="Calibri" pitchFamily="34" charset="-120"/>
              </a:rPr>
              <a:t>: Claude's briefing note for your project</a:t>
            </a:r>
            <a:endParaRPr lang="en-US" sz="3000" dirty="0"/>
          </a:p>
        </p:txBody>
      </p:sp>
      <p:sp>
        <p:nvSpPr>
          <p:cNvPr id="4" name="Shape 1"/>
          <p:cNvSpPr/>
          <p:nvPr/>
        </p:nvSpPr>
        <p:spPr>
          <a:xfrm>
            <a:off x="548640" y="1645920"/>
            <a:ext cx="5408676" cy="3017520"/>
          </a:xfrm>
          <a:prstGeom prst="roundRect">
            <a:avLst>
              <a:gd name="adj" fmla="val 3636"/>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828800"/>
            <a:ext cx="4951476"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What goes in it</a:t>
            </a:r>
            <a:endParaRPr lang="en-US" sz="2200" dirty="0"/>
          </a:p>
        </p:txBody>
      </p:sp>
      <p:sp>
        <p:nvSpPr>
          <p:cNvPr id="6" name="Text 3"/>
          <p:cNvSpPr txBox="1"/>
          <p:nvPr/>
        </p:nvSpPr>
        <p:spPr>
          <a:xfrm>
            <a:off x="777240" y="2331720"/>
            <a:ext cx="4951476" cy="21945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What the project is and its layout</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Commands: how to run, test, lint</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Conventions and style preferences</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Where the plans and decisions live</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Do's and don'ts (e.g. never commit unasked)</a:t>
            </a:r>
            <a:endParaRPr lang="en-US" sz="1700" dirty="0"/>
          </a:p>
        </p:txBody>
      </p:sp>
      <p:sp>
        <p:nvSpPr>
          <p:cNvPr id="7" name="Shape 4"/>
          <p:cNvSpPr/>
          <p:nvPr/>
        </p:nvSpPr>
        <p:spPr>
          <a:xfrm>
            <a:off x="6231636" y="1645920"/>
            <a:ext cx="5408676" cy="3017520"/>
          </a:xfrm>
          <a:prstGeom prst="roundRect">
            <a:avLst>
              <a:gd name="adj" fmla="val 3636"/>
            </a:avLst>
          </a:prstGeom>
          <a:solidFill>
            <a:srgbClr val="12305A"/>
          </a:solidFill>
          <a:ln w="12700">
            <a:solidFill>
              <a:srgbClr val="12305A"/>
            </a:solidFill>
            <a:prstDash val="solid"/>
          </a:ln>
        </p:spPr>
        <p:txBody>
          <a:bodyPr/>
          <a:lstStyle/>
          <a:p>
            <a:endParaRPr lang="en-US"/>
          </a:p>
        </p:txBody>
      </p:sp>
      <p:sp>
        <p:nvSpPr>
          <p:cNvPr id="8" name="Text 5"/>
          <p:cNvSpPr txBox="1"/>
          <p:nvPr/>
        </p:nvSpPr>
        <p:spPr>
          <a:xfrm>
            <a:off x="6460236" y="1828800"/>
            <a:ext cx="4951476"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Why it's worth having</a:t>
            </a:r>
            <a:endParaRPr lang="en-US" sz="2200" dirty="0"/>
          </a:p>
        </p:txBody>
      </p:sp>
      <p:sp>
        <p:nvSpPr>
          <p:cNvPr id="9" name="Text 6"/>
          <p:cNvSpPr txBox="1"/>
          <p:nvPr/>
        </p:nvSpPr>
        <p:spPr>
          <a:xfrm>
            <a:off x="6460236" y="2331720"/>
            <a:ext cx="4951476" cy="21945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Loaded every session: no re-explaining</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Shared with the team through git</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Fewer wrong guesses, fewer corrections</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A global one in ~/.claude/ holds personal habits</a:t>
            </a:r>
            <a:endParaRPr lang="en-US" sz="1700" dirty="0"/>
          </a:p>
        </p:txBody>
      </p:sp>
      <p:sp>
        <p:nvSpPr>
          <p:cNvPr id="10" name="Shape 7"/>
          <p:cNvSpPr/>
          <p:nvPr/>
        </p:nvSpPr>
        <p:spPr>
          <a:xfrm>
            <a:off x="548640" y="4937760"/>
            <a:ext cx="11091672" cy="1188720"/>
          </a:xfrm>
          <a:prstGeom prst="roundRect">
            <a:avLst>
              <a:gd name="adj" fmla="val 7692"/>
            </a:avLst>
          </a:prstGeom>
          <a:solidFill>
            <a:srgbClr val="081628"/>
          </a:solidFill>
          <a:ln w="12700">
            <a:solidFill>
              <a:srgbClr val="1E3F6F"/>
            </a:solidFill>
            <a:prstDash val="solid"/>
          </a:ln>
        </p:spPr>
        <p:txBody>
          <a:bodyPr/>
          <a:lstStyle/>
          <a:p>
            <a:endParaRPr lang="en-US"/>
          </a:p>
        </p:txBody>
      </p:sp>
      <p:sp>
        <p:nvSpPr>
          <p:cNvPr id="11" name="Text 8"/>
          <p:cNvSpPr txBox="1"/>
          <p:nvPr/>
        </p:nvSpPr>
        <p:spPr>
          <a:xfrm>
            <a:off x="777240" y="5074920"/>
            <a:ext cx="10634472" cy="914400"/>
          </a:xfrm>
          <a:prstGeom prst="rect">
            <a:avLst/>
          </a:prstGeom>
          <a:noFill/>
          <a:ln/>
        </p:spPr>
        <p:txBody>
          <a:bodyPr wrap="square" lIns="0" tIns="0" rIns="0" bIns="0" rtlCol="0" anchor="t"/>
          <a:lstStyle/>
          <a:p>
            <a:pPr marL="0" indent="0">
              <a:buNone/>
            </a:pPr>
            <a:r>
              <a:rPr lang="en-US" sz="1600" dirty="0">
                <a:solidFill>
                  <a:srgbClr val="F2F6FC"/>
                </a:solidFill>
                <a:latin typeface="Courier New" pitchFamily="34" charset="0"/>
                <a:ea typeface="Courier New" pitchFamily="34" charset="-122"/>
                <a:cs typeface="Courier New" pitchFamily="34" charset="-120"/>
              </a:rPr>
              <a:t>&gt; Create a CLAUDE.md for this project: what it is, how to run and test it,</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and the conventions you see in the code. (or just type /init)</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Skills, rules, hooks, agents</a:t>
            </a:r>
            <a:r>
              <a:rPr lang="en-US" sz="3000" b="1" dirty="0">
                <a:solidFill>
                  <a:srgbClr val="F2F6FC"/>
                </a:solidFill>
                <a:latin typeface="Calibri" pitchFamily="34" charset="0"/>
                <a:ea typeface="Calibri" pitchFamily="34" charset="-122"/>
                <a:cs typeface="Calibri" pitchFamily="34" charset="-120"/>
              </a:rPr>
              <a:t>: pick the right block</a:t>
            </a:r>
            <a:endParaRPr lang="en-US" sz="3000" dirty="0"/>
          </a:p>
        </p:txBody>
      </p:sp>
      <p:sp>
        <p:nvSpPr>
          <p:cNvPr id="4" name="Shape 1"/>
          <p:cNvSpPr/>
          <p:nvPr/>
        </p:nvSpPr>
        <p:spPr>
          <a:xfrm>
            <a:off x="548640" y="1737360"/>
            <a:ext cx="2567178" cy="384048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92024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Repeatable behavior</a:t>
            </a:r>
            <a:endParaRPr lang="en-US" sz="1600" dirty="0"/>
          </a:p>
        </p:txBody>
      </p:sp>
      <p:sp>
        <p:nvSpPr>
          <p:cNvPr id="6" name="Text 3"/>
          <p:cNvSpPr txBox="1"/>
          <p:nvPr/>
        </p:nvSpPr>
        <p:spPr>
          <a:xfrm>
            <a:off x="777240" y="2304288"/>
            <a:ext cx="2109978" cy="411480"/>
          </a:xfrm>
          <a:prstGeom prst="rect">
            <a:avLst/>
          </a:prstGeom>
          <a:noFill/>
          <a:ln/>
        </p:spPr>
        <p:txBody>
          <a:bodyPr wrap="square" lIns="0" tIns="0" rIns="0" bIns="0" rtlCol="0" anchor="t"/>
          <a:lstStyle/>
          <a:p>
            <a:pPr marL="0" indent="0">
              <a:buNone/>
            </a:pPr>
            <a:r>
              <a:rPr lang="en-US" sz="2800" b="1" dirty="0">
                <a:solidFill>
                  <a:srgbClr val="F2F6FC"/>
                </a:solidFill>
                <a:latin typeface="Calibri" pitchFamily="34" charset="0"/>
                <a:ea typeface="Calibri" pitchFamily="34" charset="-122"/>
                <a:cs typeface="Calibri" pitchFamily="34" charset="-120"/>
              </a:rPr>
              <a:t>Skills</a:t>
            </a:r>
            <a:endParaRPr lang="en-US" sz="2800" dirty="0"/>
          </a:p>
        </p:txBody>
      </p:sp>
      <p:sp>
        <p:nvSpPr>
          <p:cNvPr id="7" name="Text 4"/>
          <p:cNvSpPr txBox="1"/>
          <p:nvPr/>
        </p:nvSpPr>
        <p:spPr>
          <a:xfrm>
            <a:off x="777240" y="2807208"/>
            <a:ext cx="2109978" cy="2633472"/>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A playbook Claude loads when the task matches, or when you type /name.</a:t>
            </a:r>
            <a:endParaRPr lang="en-US" sz="1700" dirty="0"/>
          </a:p>
        </p:txBody>
      </p:sp>
      <p:sp>
        <p:nvSpPr>
          <p:cNvPr id="8" name="Shape 5"/>
          <p:cNvSpPr/>
          <p:nvPr/>
        </p:nvSpPr>
        <p:spPr>
          <a:xfrm>
            <a:off x="3390138" y="1737360"/>
            <a:ext cx="2567178" cy="384048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9" name="Text 6"/>
          <p:cNvSpPr txBox="1"/>
          <p:nvPr/>
        </p:nvSpPr>
        <p:spPr>
          <a:xfrm>
            <a:off x="3618738" y="192024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Isolated behavior</a:t>
            </a:r>
            <a:endParaRPr lang="en-US" sz="1600" dirty="0"/>
          </a:p>
        </p:txBody>
      </p:sp>
      <p:sp>
        <p:nvSpPr>
          <p:cNvPr id="10" name="Text 7"/>
          <p:cNvSpPr txBox="1"/>
          <p:nvPr/>
        </p:nvSpPr>
        <p:spPr>
          <a:xfrm>
            <a:off x="3618738" y="2304288"/>
            <a:ext cx="2109978" cy="411480"/>
          </a:xfrm>
          <a:prstGeom prst="rect">
            <a:avLst/>
          </a:prstGeom>
          <a:noFill/>
          <a:ln/>
        </p:spPr>
        <p:txBody>
          <a:bodyPr wrap="square" lIns="0" tIns="0" rIns="0" bIns="0" rtlCol="0" anchor="t"/>
          <a:lstStyle/>
          <a:p>
            <a:pPr marL="0" indent="0">
              <a:buNone/>
            </a:pPr>
            <a:r>
              <a:rPr lang="en-US" sz="2800" b="1" dirty="0">
                <a:solidFill>
                  <a:srgbClr val="F2F6FC"/>
                </a:solidFill>
                <a:latin typeface="Calibri" pitchFamily="34" charset="0"/>
                <a:ea typeface="Calibri" pitchFamily="34" charset="-122"/>
                <a:cs typeface="Calibri" pitchFamily="34" charset="-120"/>
              </a:rPr>
              <a:t>Rules</a:t>
            </a:r>
            <a:endParaRPr lang="en-US" sz="2800" dirty="0"/>
          </a:p>
        </p:txBody>
      </p:sp>
      <p:sp>
        <p:nvSpPr>
          <p:cNvPr id="11" name="Text 8"/>
          <p:cNvSpPr txBox="1"/>
          <p:nvPr/>
        </p:nvSpPr>
        <p:spPr>
          <a:xfrm>
            <a:off x="3618738" y="2807208"/>
            <a:ext cx="2109978" cy="2633472"/>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Small focused instruction files, optionally scoped to certain files.</a:t>
            </a:r>
            <a:endParaRPr lang="en-US" sz="1700" dirty="0"/>
          </a:p>
        </p:txBody>
      </p:sp>
      <p:sp>
        <p:nvSpPr>
          <p:cNvPr id="12" name="Shape 9"/>
          <p:cNvSpPr/>
          <p:nvPr/>
        </p:nvSpPr>
        <p:spPr>
          <a:xfrm>
            <a:off x="6231636" y="1737360"/>
            <a:ext cx="2567178" cy="384048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13" name="Text 10"/>
          <p:cNvSpPr txBox="1"/>
          <p:nvPr/>
        </p:nvSpPr>
        <p:spPr>
          <a:xfrm>
            <a:off x="6460236" y="192024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Mandatory behavior</a:t>
            </a:r>
            <a:endParaRPr lang="en-US" sz="1600" dirty="0"/>
          </a:p>
        </p:txBody>
      </p:sp>
      <p:sp>
        <p:nvSpPr>
          <p:cNvPr id="14" name="Text 11"/>
          <p:cNvSpPr txBox="1"/>
          <p:nvPr/>
        </p:nvSpPr>
        <p:spPr>
          <a:xfrm>
            <a:off x="6460236" y="2304288"/>
            <a:ext cx="2109978" cy="411480"/>
          </a:xfrm>
          <a:prstGeom prst="rect">
            <a:avLst/>
          </a:prstGeom>
          <a:noFill/>
          <a:ln/>
        </p:spPr>
        <p:txBody>
          <a:bodyPr wrap="square" lIns="0" tIns="0" rIns="0" bIns="0" rtlCol="0" anchor="t"/>
          <a:lstStyle/>
          <a:p>
            <a:pPr marL="0" indent="0">
              <a:buNone/>
            </a:pPr>
            <a:r>
              <a:rPr lang="en-US" sz="2800" b="1" dirty="0">
                <a:solidFill>
                  <a:srgbClr val="F2F6FC"/>
                </a:solidFill>
                <a:latin typeface="Calibri" pitchFamily="34" charset="0"/>
                <a:ea typeface="Calibri" pitchFamily="34" charset="-122"/>
                <a:cs typeface="Calibri" pitchFamily="34" charset="-120"/>
              </a:rPr>
              <a:t>Hooks</a:t>
            </a:r>
            <a:endParaRPr lang="en-US" sz="2800" dirty="0"/>
          </a:p>
        </p:txBody>
      </p:sp>
      <p:sp>
        <p:nvSpPr>
          <p:cNvPr id="15" name="Text 12"/>
          <p:cNvSpPr txBox="1"/>
          <p:nvPr/>
        </p:nvSpPr>
        <p:spPr>
          <a:xfrm>
            <a:off x="6460236" y="2807208"/>
            <a:ext cx="2109978" cy="2633472"/>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Commands that run automatically on events. Guaranteed, not suggested.</a:t>
            </a:r>
            <a:endParaRPr lang="en-US" sz="1700" dirty="0"/>
          </a:p>
        </p:txBody>
      </p:sp>
      <p:sp>
        <p:nvSpPr>
          <p:cNvPr id="16" name="Shape 13"/>
          <p:cNvSpPr/>
          <p:nvPr/>
        </p:nvSpPr>
        <p:spPr>
          <a:xfrm>
            <a:off x="9073134" y="1737360"/>
            <a:ext cx="2567178" cy="384048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17" name="Text 14"/>
          <p:cNvSpPr txBox="1"/>
          <p:nvPr/>
        </p:nvSpPr>
        <p:spPr>
          <a:xfrm>
            <a:off x="9301734" y="192024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Delegated work</a:t>
            </a:r>
            <a:endParaRPr lang="en-US" sz="1600" dirty="0"/>
          </a:p>
        </p:txBody>
      </p:sp>
      <p:sp>
        <p:nvSpPr>
          <p:cNvPr id="18" name="Text 15"/>
          <p:cNvSpPr txBox="1"/>
          <p:nvPr/>
        </p:nvSpPr>
        <p:spPr>
          <a:xfrm>
            <a:off x="9301734" y="2304288"/>
            <a:ext cx="2109978" cy="411480"/>
          </a:xfrm>
          <a:prstGeom prst="rect">
            <a:avLst/>
          </a:prstGeom>
          <a:noFill/>
          <a:ln/>
        </p:spPr>
        <p:txBody>
          <a:bodyPr wrap="square" lIns="0" tIns="0" rIns="0" bIns="0" rtlCol="0" anchor="t"/>
          <a:lstStyle/>
          <a:p>
            <a:pPr marL="0" indent="0">
              <a:buNone/>
            </a:pPr>
            <a:r>
              <a:rPr lang="en-US" sz="2800" b="1" dirty="0">
                <a:solidFill>
                  <a:srgbClr val="F2F6FC"/>
                </a:solidFill>
                <a:latin typeface="Calibri" pitchFamily="34" charset="0"/>
                <a:ea typeface="Calibri" pitchFamily="34" charset="-122"/>
                <a:cs typeface="Calibri" pitchFamily="34" charset="-120"/>
              </a:rPr>
              <a:t>Agents</a:t>
            </a:r>
            <a:endParaRPr lang="en-US" sz="2800" dirty="0"/>
          </a:p>
        </p:txBody>
      </p:sp>
      <p:sp>
        <p:nvSpPr>
          <p:cNvPr id="19" name="Text 16"/>
          <p:cNvSpPr txBox="1"/>
          <p:nvPr/>
        </p:nvSpPr>
        <p:spPr>
          <a:xfrm>
            <a:off x="9301734" y="2807208"/>
            <a:ext cx="2109978" cy="2633472"/>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Specialist helpers with their own context, tools and model.</a:t>
            </a:r>
            <a:endParaRPr lang="en-US" sz="1700" dirty="0"/>
          </a:p>
        </p:txBody>
      </p:sp>
      <p:sp>
        <p:nvSpPr>
          <p:cNvPr id="20" name="Text 17"/>
          <p:cNvSpPr txBox="1"/>
          <p:nvPr/>
        </p:nvSpPr>
        <p:spPr>
          <a:xfrm>
            <a:off x="548640" y="5760720"/>
            <a:ext cx="11091672" cy="411480"/>
          </a:xfrm>
          <a:prstGeom prst="rect">
            <a:avLst/>
          </a:prstGeom>
          <a:noFill/>
          <a:ln/>
        </p:spPr>
        <p:txBody>
          <a:bodyPr wrap="square" lIns="0" tIns="0" rIns="0" bIns="0" rtlCol="0" anchor="ctr"/>
          <a:lstStyle/>
          <a:p>
            <a:pPr marL="0" indent="0">
              <a:buNone/>
            </a:pPr>
            <a:r>
              <a:rPr lang="en-US" sz="1800" dirty="0">
                <a:solidFill>
                  <a:srgbClr val="5EEAD4"/>
                </a:solidFill>
                <a:latin typeface="Calibri" pitchFamily="34" charset="0"/>
                <a:ea typeface="Calibri" pitchFamily="34" charset="-122"/>
                <a:cs typeface="Calibri" pitchFamily="34" charset="-120"/>
              </a:rPr>
              <a:t>CLAUDE.md = always-on context. These four = on-demand or automatic behavior.</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a:solidFill>
                  <a:srgbClr val="F2F6FC"/>
                </a:solidFill>
                <a:latin typeface="Calibri" pitchFamily="34" charset="0"/>
                <a:ea typeface="Calibri" pitchFamily="34" charset="-122"/>
                <a:cs typeface="Calibri" pitchFamily="34" charset="-120"/>
              </a:rPr>
              <a:t>Example of my </a:t>
            </a:r>
            <a:r>
              <a:rPr lang="en-US" sz="3000" b="1" dirty="0">
                <a:solidFill>
                  <a:srgbClr val="F2F6FC"/>
                </a:solidFill>
                <a:latin typeface="Calibri" pitchFamily="34" charset="0"/>
                <a:ea typeface="Calibri" pitchFamily="34" charset="-122"/>
                <a:cs typeface="Calibri" pitchFamily="34" charset="-120"/>
              </a:rPr>
              <a:t>skills: Claude wrote them, and I keep asking it to edit them</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4023360"/>
        </p:xfrm>
        <a:graphic>
          <a:graphicData uri="http://schemas.openxmlformats.org/drawingml/2006/table">
            <a:tbl>
              <a:tblPr/>
              <a:tblGrid>
                <a:gridCol w="3474720">
                  <a:extLst>
                    <a:ext uri="{9D8B030D-6E8A-4147-A177-3AD203B41FA5}">
                      <a16:colId xmlns:a16="http://schemas.microsoft.com/office/drawing/2014/main" val="20000"/>
                    </a:ext>
                  </a:extLst>
                </a:gridCol>
                <a:gridCol w="7616952">
                  <a:extLst>
                    <a:ext uri="{9D8B030D-6E8A-4147-A177-3AD203B41FA5}">
                      <a16:colId xmlns:a16="http://schemas.microsoft.com/office/drawing/2014/main" val="20001"/>
                    </a:ext>
                  </a:extLst>
                </a:gridCol>
              </a:tblGrid>
              <a:tr h="502920">
                <a:tc>
                  <a:txBody>
                    <a:bodyPr/>
                    <a:lstStyle/>
                    <a:p>
                      <a:pPr marL="0" indent="0">
                        <a:buNone/>
                      </a:pPr>
                      <a:r>
                        <a:rPr lang="en-US" sz="1600" b="1" dirty="0">
                          <a:solidFill>
                            <a:srgbClr val="0B1F3A"/>
                          </a:solidFill>
                          <a:latin typeface="Calibri" pitchFamily="34" charset="0"/>
                          <a:ea typeface="Calibri" pitchFamily="34" charset="-122"/>
                          <a:cs typeface="Calibri" pitchFamily="34" charset="-120"/>
                        </a:rPr>
                        <a:t>Skill</a:t>
                      </a:r>
                      <a:endParaRPr lang="en-US" sz="16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38BDF8"/>
                    </a:solidFill>
                  </a:tcPr>
                </a:tc>
                <a:tc>
                  <a:txBody>
                    <a:bodyPr/>
                    <a:lstStyle/>
                    <a:p>
                      <a:pPr marL="0" indent="0">
                        <a:buNone/>
                      </a:pPr>
                      <a:r>
                        <a:rPr lang="en-US" sz="1600" b="1" dirty="0">
                          <a:solidFill>
                            <a:srgbClr val="0B1F3A"/>
                          </a:solidFill>
                          <a:latin typeface="Calibri" pitchFamily="34" charset="0"/>
                          <a:ea typeface="Calibri" pitchFamily="34" charset="-122"/>
                          <a:cs typeface="Calibri" pitchFamily="34" charset="-120"/>
                        </a:rPr>
                        <a:t>What it does</a:t>
                      </a:r>
                      <a:endParaRPr lang="en-US" sz="16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38BDF8"/>
                    </a:solidFill>
                  </a:tcPr>
                </a:tc>
                <a:extLst>
                  <a:ext uri="{0D108BD9-81ED-4DB2-BD59-A6C34878D82A}">
                    <a16:rowId xmlns:a16="http://schemas.microsoft.com/office/drawing/2014/main" val="10000"/>
                  </a:ext>
                </a:extLst>
              </a:tr>
              <a:tr h="502920">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create-new-project</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Scaffolds a Python uv project with plans/, notebooks/, src/</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1"/>
                  </a:ext>
                </a:extLst>
              </a:tr>
              <a:tr h="502920">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create-notebook</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Builds local or Kaggle Jupyter notebooks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2"/>
                  </a:ext>
                </a:extLst>
              </a:tr>
              <a:tr h="502920">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create-tests / run-tests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Writes tests; runs pytest + ruff + mypy like CI</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3"/>
                  </a:ext>
                </a:extLst>
              </a:tr>
              <a:tr h="502920">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create-cli</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Adds a small CLI plus a CLI.md on how to run it</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4"/>
                  </a:ext>
                </a:extLst>
              </a:tr>
              <a:tr h="502920">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create-ppt-presentation</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Plans and builds a .pptx deck (like this one)</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5"/>
                  </a:ext>
                </a:extLst>
              </a:tr>
              <a:tr h="502920">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create-video</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Narrated explainer video from a script (MP4)</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6"/>
                  </a:ext>
                </a:extLst>
              </a:tr>
              <a:tr h="502920">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git-flows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Checks GitHub identity, branch and commit conventions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7"/>
                  </a:ext>
                </a:extLst>
              </a:tr>
            </a:tbl>
          </a:graphicData>
        </a:graphic>
      </p:graphicFrame>
      <p:sp>
        <p:nvSpPr>
          <p:cNvPr id="5" name="Text 1"/>
          <p:cNvSpPr txBox="1"/>
          <p:nvPr/>
        </p:nvSpPr>
        <p:spPr>
          <a:xfrm>
            <a:off x="548640" y="5897880"/>
            <a:ext cx="11091672" cy="365760"/>
          </a:xfrm>
          <a:prstGeom prst="rect">
            <a:avLst/>
          </a:prstGeom>
          <a:noFill/>
          <a:ln/>
        </p:spPr>
        <p:txBody>
          <a:bodyPr wrap="square" lIns="0" tIns="0" rIns="0" bIns="0" rtlCol="0" anchor="ctr"/>
          <a:lstStyle/>
          <a:p>
            <a:pPr marL="0" indent="0">
              <a:buNone/>
            </a:pPr>
            <a:r>
              <a:rPr lang="en-US" sz="1600" dirty="0">
                <a:solidFill>
                  <a:srgbClr val="5EEAD4"/>
                </a:solidFill>
                <a:latin typeface="Calibri" pitchFamily="34" charset="0"/>
                <a:ea typeface="Calibri" pitchFamily="34" charset="-122"/>
                <a:cs typeface="Calibri" pitchFamily="34" charset="-120"/>
              </a:rPr>
              <a:t>Ask: "Create a skill that does X every time I ask for Y". Later: "Edit that skill so it also Z".</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Agents</a:t>
            </a:r>
            <a:r>
              <a:rPr lang="en-US" sz="3000" b="1" dirty="0">
                <a:solidFill>
                  <a:srgbClr val="F2F6FC"/>
                </a:solidFill>
                <a:latin typeface="Calibri" pitchFamily="34" charset="0"/>
                <a:ea typeface="Calibri" pitchFamily="34" charset="-122"/>
                <a:cs typeface="Calibri" pitchFamily="34" charset="-120"/>
              </a:rPr>
              <a:t>: a markdown file in .claude/agents/</a:t>
            </a:r>
            <a:endParaRPr lang="en-US" sz="3000" dirty="0"/>
          </a:p>
        </p:txBody>
      </p:sp>
      <p:sp>
        <p:nvSpPr>
          <p:cNvPr id="4" name="Shape 1"/>
          <p:cNvSpPr/>
          <p:nvPr/>
        </p:nvSpPr>
        <p:spPr>
          <a:xfrm>
            <a:off x="548640" y="1645920"/>
            <a:ext cx="5394960" cy="2743200"/>
          </a:xfrm>
          <a:prstGeom prst="roundRect">
            <a:avLst>
              <a:gd name="adj" fmla="val 3333"/>
            </a:avLst>
          </a:prstGeom>
          <a:solidFill>
            <a:srgbClr val="081628"/>
          </a:solidFill>
          <a:ln w="12700">
            <a:solidFill>
              <a:srgbClr val="1E3F6F"/>
            </a:solidFill>
            <a:prstDash val="solid"/>
          </a:ln>
        </p:spPr>
        <p:txBody>
          <a:bodyPr/>
          <a:lstStyle/>
          <a:p>
            <a:endParaRPr lang="en-US"/>
          </a:p>
        </p:txBody>
      </p:sp>
      <p:sp>
        <p:nvSpPr>
          <p:cNvPr id="5" name="Text 2"/>
          <p:cNvSpPr txBox="1"/>
          <p:nvPr/>
        </p:nvSpPr>
        <p:spPr>
          <a:xfrm>
            <a:off x="777240" y="1783080"/>
            <a:ext cx="4937760" cy="2468880"/>
          </a:xfrm>
          <a:prstGeom prst="rect">
            <a:avLst/>
          </a:prstGeom>
          <a:noFill/>
          <a:ln/>
        </p:spPr>
        <p:txBody>
          <a:bodyPr wrap="square" lIns="0" tIns="0" rIns="0" bIns="0" rtlCol="0" anchor="t"/>
          <a:lstStyle/>
          <a:p>
            <a:pPr marL="0" indent="0">
              <a:buNone/>
            </a:pPr>
            <a:r>
              <a:rPr lang="en-US" sz="1600" dirty="0">
                <a:solidFill>
                  <a:srgbClr val="F2F6FC"/>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name: summarizer</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description: Summarize files in 5 bullets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tools: Read, Grep, Glob</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model: haiku</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You read the given files and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return a 5-bullet summary.</a:t>
            </a:r>
            <a:endParaRPr lang="en-US" sz="1600" dirty="0"/>
          </a:p>
        </p:txBody>
      </p:sp>
      <p:sp>
        <p:nvSpPr>
          <p:cNvPr id="6" name="Text 3"/>
          <p:cNvSpPr txBox="1"/>
          <p:nvPr/>
        </p:nvSpPr>
        <p:spPr>
          <a:xfrm>
            <a:off x="548640" y="4572000"/>
            <a:ext cx="5394960" cy="457200"/>
          </a:xfrm>
          <a:prstGeom prst="rect">
            <a:avLst/>
          </a:prstGeom>
          <a:noFill/>
          <a:ln/>
        </p:spPr>
        <p:txBody>
          <a:bodyPr wrap="square" lIns="0" tIns="0" rIns="0" bIns="0" rtlCol="0" anchor="ctr"/>
          <a:lstStyle/>
          <a:p>
            <a:pPr marL="0" indent="0">
              <a:buNone/>
            </a:pPr>
            <a:r>
              <a:rPr lang="en-US" sz="1600" dirty="0">
                <a:solidFill>
                  <a:srgbClr val="5EEAD4"/>
                </a:solidFill>
                <a:latin typeface="Calibri" pitchFamily="34" charset="0"/>
                <a:ea typeface="Calibri" pitchFamily="34" charset="-122"/>
                <a:cs typeface="Calibri" pitchFamily="34" charset="-120"/>
              </a:rPr>
              <a:t>Ask Claude to write it, or use /agents</a:t>
            </a:r>
            <a:endParaRPr lang="en-US" sz="1600" dirty="0"/>
          </a:p>
        </p:txBody>
      </p:sp>
      <p:sp>
        <p:nvSpPr>
          <p:cNvPr id="7" name="Shape 4"/>
          <p:cNvSpPr/>
          <p:nvPr/>
        </p:nvSpPr>
        <p:spPr>
          <a:xfrm>
            <a:off x="6245352" y="1645920"/>
            <a:ext cx="5394960"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8" name="Text 5"/>
          <p:cNvSpPr txBox="1"/>
          <p:nvPr/>
        </p:nvSpPr>
        <p:spPr>
          <a:xfrm>
            <a:off x="6473952" y="1828800"/>
            <a:ext cx="49377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Built-in agents</a:t>
            </a:r>
            <a:endParaRPr lang="en-US" sz="2000" dirty="0"/>
          </a:p>
        </p:txBody>
      </p:sp>
      <p:sp>
        <p:nvSpPr>
          <p:cNvPr id="9" name="Text 6"/>
          <p:cNvSpPr txBox="1"/>
          <p:nvPr/>
        </p:nvSpPr>
        <p:spPr>
          <a:xfrm>
            <a:off x="6473952" y="2331720"/>
            <a:ext cx="4937760" cy="1280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Explore: fast read-only search</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Plan: designs an approach</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General-purpose: multi-step work</a:t>
            </a:r>
            <a:endParaRPr lang="en-US" sz="1600" dirty="0"/>
          </a:p>
        </p:txBody>
      </p:sp>
      <p:sp>
        <p:nvSpPr>
          <p:cNvPr id="10" name="Shape 7"/>
          <p:cNvSpPr/>
          <p:nvPr/>
        </p:nvSpPr>
        <p:spPr>
          <a:xfrm>
            <a:off x="6245352" y="3931920"/>
            <a:ext cx="5394960" cy="2194560"/>
          </a:xfrm>
          <a:prstGeom prst="roundRect">
            <a:avLst>
              <a:gd name="adj" fmla="val 5000"/>
            </a:avLst>
          </a:prstGeom>
          <a:solidFill>
            <a:srgbClr val="12305A"/>
          </a:solidFill>
          <a:ln w="12700">
            <a:solidFill>
              <a:srgbClr val="12305A"/>
            </a:solidFill>
            <a:prstDash val="solid"/>
          </a:ln>
        </p:spPr>
        <p:txBody>
          <a:bodyPr/>
          <a:lstStyle/>
          <a:p>
            <a:endParaRPr lang="en-US"/>
          </a:p>
        </p:txBody>
      </p:sp>
      <p:sp>
        <p:nvSpPr>
          <p:cNvPr id="11" name="Text 8"/>
          <p:cNvSpPr txBox="1"/>
          <p:nvPr/>
        </p:nvSpPr>
        <p:spPr>
          <a:xfrm>
            <a:off x="6473952" y="4114800"/>
            <a:ext cx="49377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How to call them</a:t>
            </a:r>
            <a:endParaRPr lang="en-US" sz="2000" dirty="0"/>
          </a:p>
        </p:txBody>
      </p:sp>
      <p:sp>
        <p:nvSpPr>
          <p:cNvPr id="12" name="Text 9"/>
          <p:cNvSpPr txBox="1"/>
          <p:nvPr/>
        </p:nvSpPr>
        <p:spPr>
          <a:xfrm>
            <a:off x="6473952" y="4617720"/>
            <a:ext cx="4937760" cy="1371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@agent-summarizer in the chat</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claude --agent coordinator for the whole session</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Or just ask: Claude delegates by itself</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Hooks and settings</a:t>
            </a:r>
            <a:r>
              <a:rPr lang="en-US" sz="3000" b="1" dirty="0">
                <a:solidFill>
                  <a:srgbClr val="F2F6FC"/>
                </a:solidFill>
                <a:latin typeface="Calibri" pitchFamily="34" charset="0"/>
                <a:ea typeface="Calibri" pitchFamily="34" charset="-122"/>
                <a:cs typeface="Calibri" pitchFamily="34" charset="-120"/>
              </a:rPr>
              <a:t>: get a push notification when Claude finishes</a:t>
            </a:r>
            <a:endParaRPr lang="en-US" sz="3000" dirty="0"/>
          </a:p>
        </p:txBody>
      </p:sp>
      <p:sp>
        <p:nvSpPr>
          <p:cNvPr id="4" name="Shape 1"/>
          <p:cNvSpPr/>
          <p:nvPr/>
        </p:nvSpPr>
        <p:spPr>
          <a:xfrm>
            <a:off x="548640" y="1645920"/>
            <a:ext cx="5669280" cy="3840480"/>
          </a:xfrm>
          <a:prstGeom prst="roundRect">
            <a:avLst>
              <a:gd name="adj" fmla="val 2381"/>
            </a:avLst>
          </a:prstGeom>
          <a:solidFill>
            <a:srgbClr val="081628"/>
          </a:solidFill>
          <a:ln w="12700">
            <a:solidFill>
              <a:srgbClr val="1E3F6F"/>
            </a:solidFill>
            <a:prstDash val="solid"/>
          </a:ln>
        </p:spPr>
        <p:txBody>
          <a:bodyPr/>
          <a:lstStyle/>
          <a:p>
            <a:endParaRPr lang="en-US"/>
          </a:p>
        </p:txBody>
      </p:sp>
      <p:sp>
        <p:nvSpPr>
          <p:cNvPr id="5" name="Text 2"/>
          <p:cNvSpPr txBox="1"/>
          <p:nvPr/>
        </p:nvSpPr>
        <p:spPr>
          <a:xfrm>
            <a:off x="777240" y="1783080"/>
            <a:ext cx="5212080" cy="3566160"/>
          </a:xfrm>
          <a:prstGeom prst="rect">
            <a:avLst/>
          </a:prstGeom>
          <a:noFill/>
          <a:ln/>
        </p:spPr>
        <p:txBody>
          <a:bodyPr wrap="square" lIns="0" tIns="0" rIns="0" bIns="0" rtlCol="0" anchor="t"/>
          <a:lstStyle/>
          <a:p>
            <a:pPr marL="0" indent="0">
              <a:buNone/>
            </a:pPr>
            <a:r>
              <a:rPr lang="en-US" sz="1400" dirty="0">
                <a:solidFill>
                  <a:srgbClr val="F2F6FC"/>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"hooks":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"Stop":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"hooks":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"type": "command",</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"command": "&lt;your notify script&gt;"</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a:t>
            </a:r>
            <a:endParaRPr lang="en-US" sz="1400" dirty="0"/>
          </a:p>
        </p:txBody>
      </p:sp>
      <p:sp>
        <p:nvSpPr>
          <p:cNvPr id="6" name="Text 3"/>
          <p:cNvSpPr txBox="1"/>
          <p:nvPr/>
        </p:nvSpPr>
        <p:spPr>
          <a:xfrm>
            <a:off x="548640" y="5623560"/>
            <a:ext cx="5669280" cy="457200"/>
          </a:xfrm>
          <a:prstGeom prst="rect">
            <a:avLst/>
          </a:prstGeom>
          <a:noFill/>
          <a:ln/>
        </p:spPr>
        <p:txBody>
          <a:bodyPr wrap="square" lIns="0" tIns="0" rIns="0" bIns="0" rtlCol="0" anchor="ctr"/>
          <a:lstStyle/>
          <a:p>
            <a:pPr marL="0" indent="0">
              <a:buNone/>
            </a:pPr>
            <a:r>
              <a:rPr lang="en-US" sz="1600" dirty="0">
                <a:solidFill>
                  <a:srgbClr val="A9BCD6"/>
                </a:solidFill>
                <a:latin typeface="Calibri" pitchFamily="34" charset="0"/>
                <a:ea typeface="Calibri" pitchFamily="34" charset="-122"/>
                <a:cs typeface="Calibri" pitchFamily="34" charset="-120"/>
              </a:rPr>
              <a:t>Events: Stop, Notification, PreToolUse...</a:t>
            </a:r>
            <a:endParaRPr lang="en-US" sz="1600" dirty="0"/>
          </a:p>
        </p:txBody>
      </p:sp>
      <p:sp>
        <p:nvSpPr>
          <p:cNvPr id="7" name="Shape 4"/>
          <p:cNvSpPr/>
          <p:nvPr/>
        </p:nvSpPr>
        <p:spPr>
          <a:xfrm>
            <a:off x="6492240" y="1645920"/>
            <a:ext cx="5148072" cy="2286000"/>
          </a:xfrm>
          <a:prstGeom prst="roundRect">
            <a:avLst>
              <a:gd name="adj" fmla="val 4800"/>
            </a:avLst>
          </a:prstGeom>
          <a:solidFill>
            <a:srgbClr val="12305A"/>
          </a:solidFill>
          <a:ln w="12700">
            <a:solidFill>
              <a:srgbClr val="12305A"/>
            </a:solidFill>
            <a:prstDash val="solid"/>
          </a:ln>
        </p:spPr>
        <p:txBody>
          <a:bodyPr/>
          <a:lstStyle/>
          <a:p>
            <a:endParaRPr lang="en-US"/>
          </a:p>
        </p:txBody>
      </p:sp>
      <p:sp>
        <p:nvSpPr>
          <p:cNvPr id="8" name="Text 5"/>
          <p:cNvSpPr txBox="1"/>
          <p:nvPr/>
        </p:nvSpPr>
        <p:spPr>
          <a:xfrm>
            <a:off x="6720840" y="1828800"/>
            <a:ext cx="4690872"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Settings levels</a:t>
            </a:r>
            <a:endParaRPr lang="en-US" sz="2000" dirty="0"/>
          </a:p>
        </p:txBody>
      </p:sp>
      <p:sp>
        <p:nvSpPr>
          <p:cNvPr id="9" name="Text 6"/>
          <p:cNvSpPr txBox="1"/>
          <p:nvPr/>
        </p:nvSpPr>
        <p:spPr>
          <a:xfrm>
            <a:off x="6720840" y="2331720"/>
            <a:ext cx="4690872" cy="14630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~/.claude/settings.json: all projects</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.claude/settings.json: this project, shared</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.claude/settings.local.json: just you</a:t>
            </a:r>
            <a:endParaRPr lang="en-US" sz="1600" dirty="0"/>
          </a:p>
        </p:txBody>
      </p:sp>
      <p:sp>
        <p:nvSpPr>
          <p:cNvPr id="10" name="Shape 7"/>
          <p:cNvSpPr/>
          <p:nvPr/>
        </p:nvSpPr>
        <p:spPr>
          <a:xfrm>
            <a:off x="6492240" y="4114800"/>
            <a:ext cx="5148072" cy="2011680"/>
          </a:xfrm>
          <a:prstGeom prst="roundRect">
            <a:avLst>
              <a:gd name="adj" fmla="val 5455"/>
            </a:avLst>
          </a:prstGeom>
          <a:solidFill>
            <a:srgbClr val="12305A"/>
          </a:solidFill>
          <a:ln w="12700">
            <a:solidFill>
              <a:srgbClr val="12305A"/>
            </a:solidFill>
            <a:prstDash val="solid"/>
          </a:ln>
        </p:spPr>
        <p:txBody>
          <a:bodyPr/>
          <a:lstStyle/>
          <a:p>
            <a:endParaRPr lang="en-US"/>
          </a:p>
        </p:txBody>
      </p:sp>
      <p:sp>
        <p:nvSpPr>
          <p:cNvPr id="11" name="Text 8"/>
          <p:cNvSpPr txBox="1"/>
          <p:nvPr/>
        </p:nvSpPr>
        <p:spPr>
          <a:xfrm>
            <a:off x="6720840" y="4297680"/>
            <a:ext cx="4690872"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Easiest way</a:t>
            </a:r>
            <a:endParaRPr lang="en-US" sz="2000" dirty="0"/>
          </a:p>
        </p:txBody>
      </p:sp>
      <p:sp>
        <p:nvSpPr>
          <p:cNvPr id="12" name="Text 9"/>
          <p:cNvSpPr txBox="1"/>
          <p:nvPr/>
        </p:nvSpPr>
        <p:spPr>
          <a:xfrm>
            <a:off x="6720840" y="4800600"/>
            <a:ext cx="4690872" cy="11887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Ask: "Add a hook that notifies me when you finish"</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Use /hooks to see what's active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822960" y="2697480"/>
            <a:ext cx="1371600" cy="1371600"/>
          </a:xfrm>
          <a:prstGeom prst="ellipse">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697480"/>
            <a:ext cx="1371600" cy="1371600"/>
          </a:xfrm>
          <a:prstGeom prst="rect">
            <a:avLst/>
          </a:prstGeom>
          <a:noFill/>
        </p:spPr>
        <p:txBody>
          <a:bodyPr wrap="square" lIns="0" tIns="0" rIns="0" bIns="0" anchor="ctr">
            <a:spAutoFit/>
          </a:bodyPr>
          <a:lstStyle/>
          <a:p>
            <a:pPr algn="ctr"/>
            <a:r>
              <a:rPr sz="6000" b="1">
                <a:solidFill>
                  <a:srgbClr val="0B1F3A"/>
                </a:solidFill>
                <a:latin typeface="Calibri"/>
              </a:rPr>
              <a:t>3</a:t>
            </a:r>
          </a:p>
        </p:txBody>
      </p:sp>
      <p:sp>
        <p:nvSpPr>
          <p:cNvPr id="4" name="TextBox 3"/>
          <p:cNvSpPr txBox="1"/>
          <p:nvPr/>
        </p:nvSpPr>
        <p:spPr>
          <a:xfrm>
            <a:off x="2651760" y="2606040"/>
            <a:ext cx="5486400" cy="914400"/>
          </a:xfrm>
          <a:prstGeom prst="rect">
            <a:avLst/>
          </a:prstGeom>
          <a:noFill/>
        </p:spPr>
        <p:txBody>
          <a:bodyPr wrap="square" lIns="0" tIns="0" rIns="0" bIns="0" anchor="ctr">
            <a:spAutoFit/>
          </a:bodyPr>
          <a:lstStyle/>
          <a:p>
            <a:pPr algn="l"/>
            <a:r>
              <a:rPr sz="5400" b="1">
                <a:solidFill>
                  <a:srgbClr val="F2F6FC"/>
                </a:solidFill>
                <a:latin typeface="Calibri"/>
              </a:rPr>
              <a:t>Plan</a:t>
            </a:r>
          </a:p>
        </p:txBody>
      </p:sp>
      <p:sp>
        <p:nvSpPr>
          <p:cNvPr id="5" name="TextBox 4"/>
          <p:cNvSpPr txBox="1"/>
          <p:nvPr/>
        </p:nvSpPr>
        <p:spPr>
          <a:xfrm>
            <a:off x="2651760" y="3611880"/>
            <a:ext cx="5486400" cy="822960"/>
          </a:xfrm>
          <a:prstGeom prst="rect">
            <a:avLst/>
          </a:prstGeom>
          <a:noFill/>
        </p:spPr>
        <p:txBody>
          <a:bodyPr wrap="square" lIns="0" tIns="0" rIns="0" bIns="0" anchor="t">
            <a:spAutoFit/>
          </a:bodyPr>
          <a:lstStyle/>
          <a:p>
            <a:pPr algn="l"/>
            <a:r>
              <a:rPr sz="2200" b="0">
                <a:solidFill>
                  <a:srgbClr val="A9BCD6"/>
                </a:solidFill>
                <a:latin typeface="Calibri"/>
              </a:rPr>
              <a:t>A process that scales beyond one prompt</a:t>
            </a:r>
          </a:p>
        </p:txBody>
      </p:sp>
      <p:sp>
        <p:nvSpPr>
          <p:cNvPr id="6" name="Rounded Rectangle 5"/>
          <p:cNvSpPr/>
          <p:nvPr/>
        </p:nvSpPr>
        <p:spPr>
          <a:xfrm>
            <a:off x="8412480" y="1737360"/>
            <a:ext cx="3246120" cy="3383280"/>
          </a:xfrm>
          <a:prstGeom prst="roundRect">
            <a:avLst>
              <a:gd name="adj" fmla="val 6000"/>
            </a:avLst>
          </a:prstGeom>
          <a:solidFill>
            <a:srgbClr val="1230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0" y="1965960"/>
            <a:ext cx="2743200" cy="365760"/>
          </a:xfrm>
          <a:prstGeom prst="rect">
            <a:avLst/>
          </a:prstGeom>
          <a:noFill/>
        </p:spPr>
        <p:txBody>
          <a:bodyPr wrap="square" lIns="0" tIns="0" rIns="0" bIns="0" anchor="t">
            <a:spAutoFit/>
          </a:bodyPr>
          <a:lstStyle/>
          <a:p>
            <a:pPr algn="l"/>
            <a:r>
              <a:rPr sz="1600" b="1">
                <a:solidFill>
                  <a:srgbClr val="38BDF8"/>
                </a:solidFill>
                <a:latin typeface="Calibri"/>
              </a:rPr>
              <a:t>In this section</a:t>
            </a:r>
          </a:p>
        </p:txBody>
      </p:sp>
      <p:sp>
        <p:nvSpPr>
          <p:cNvPr id="8" name="TextBox 7"/>
          <p:cNvSpPr txBox="1"/>
          <p:nvPr/>
        </p:nvSpPr>
        <p:spPr>
          <a:xfrm>
            <a:off x="8686800" y="2423160"/>
            <a:ext cx="2743200" cy="2560320"/>
          </a:xfrm>
          <a:prstGeom prst="rect">
            <a:avLst/>
          </a:prstGeom>
          <a:noFill/>
        </p:spPr>
        <p:txBody>
          <a:bodyPr wrap="square" lIns="0" tIns="0" rIns="0" bIns="0" anchor="t">
            <a:spAutoFit/>
          </a:bodyPr>
          <a:lstStyle/>
          <a:p>
            <a:pPr algn="l"/>
            <a:r>
              <a:rPr sz="1800" b="0">
                <a:solidFill>
                  <a:srgbClr val="F2F6FC"/>
                </a:solidFill>
                <a:latin typeface="Calibri"/>
              </a:rPr>
              <a:t>Problem and decisions</a:t>
            </a:r>
          </a:p>
          <a:p>
            <a:pPr>
              <a:spcBef>
                <a:spcPts val="800"/>
              </a:spcBef>
            </a:pPr>
            <a:r>
              <a:rPr sz="1800">
                <a:solidFill>
                  <a:srgbClr val="F2F6FC"/>
                </a:solidFill>
                <a:latin typeface="Calibri"/>
              </a:rPr>
              <a:t>Plans, tests, gates</a:t>
            </a:r>
          </a:p>
          <a:p>
            <a:pPr>
              <a:spcBef>
                <a:spcPts val="800"/>
              </a:spcBef>
            </a:pPr>
            <a:r>
              <a:rPr sz="1800">
                <a:solidFill>
                  <a:srgbClr val="F2F6FC"/>
                </a:solidFill>
                <a:latin typeface="Calibri"/>
              </a:rPr>
              <a:t>Phases</a:t>
            </a:r>
          </a:p>
          <a:p>
            <a:pPr>
              <a:spcBef>
                <a:spcPts val="800"/>
              </a:spcBef>
            </a:pPr>
            <a:r>
              <a:rPr sz="1800">
                <a:solidFill>
                  <a:srgbClr val="F2F6FC"/>
                </a:solidFill>
                <a:latin typeface="Calibri"/>
              </a:rPr>
              <a:t>Saying "next phase"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F8A2B"/>
                </a:solidFill>
                <a:latin typeface="Calibri" pitchFamily="34" charset="0"/>
                <a:ea typeface="Calibri" pitchFamily="34" charset="-122"/>
                <a:cs typeface="Calibri" pitchFamily="34" charset="-120"/>
              </a:rPr>
              <a:t>Plan first</a:t>
            </a:r>
            <a:r>
              <a:rPr lang="en-US" sz="3000" b="1" dirty="0">
                <a:solidFill>
                  <a:srgbClr val="F2F6FC"/>
                </a:solidFill>
                <a:latin typeface="Calibri" pitchFamily="34" charset="0"/>
                <a:ea typeface="Calibri" pitchFamily="34" charset="-122"/>
                <a:cs typeface="Calibri" pitchFamily="34" charset="-120"/>
              </a:rPr>
              <a:t>, then build in phases: my process</a:t>
            </a:r>
            <a:endParaRPr lang="en-US" sz="3000" dirty="0"/>
          </a:p>
        </p:txBody>
      </p:sp>
      <p:sp>
        <p:nvSpPr>
          <p:cNvPr id="4" name="Shape 1"/>
          <p:cNvSpPr/>
          <p:nvPr/>
        </p:nvSpPr>
        <p:spPr>
          <a:xfrm>
            <a:off x="548640" y="1828800"/>
            <a:ext cx="2035454" cy="2743200"/>
          </a:xfrm>
          <a:prstGeom prst="roundRect">
            <a:avLst>
              <a:gd name="adj" fmla="val 5391"/>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2011680"/>
            <a:ext cx="1578254"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1</a:t>
            </a:r>
            <a:endParaRPr lang="en-US" sz="1600" dirty="0"/>
          </a:p>
        </p:txBody>
      </p:sp>
      <p:sp>
        <p:nvSpPr>
          <p:cNvPr id="6" name="Text 3"/>
          <p:cNvSpPr txBox="1"/>
          <p:nvPr/>
        </p:nvSpPr>
        <p:spPr>
          <a:xfrm>
            <a:off x="777240" y="2395728"/>
            <a:ext cx="1578254"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Problem</a:t>
            </a:r>
            <a:endParaRPr lang="en-US" sz="2000" dirty="0"/>
          </a:p>
        </p:txBody>
      </p:sp>
      <p:sp>
        <p:nvSpPr>
          <p:cNvPr id="7" name="Text 4"/>
          <p:cNvSpPr txBox="1"/>
          <p:nvPr/>
        </p:nvSpPr>
        <p:spPr>
          <a:xfrm>
            <a:off x="777240" y="2898648"/>
            <a:ext cx="1578254" cy="153619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What am I solving, for whom?</a:t>
            </a:r>
            <a:endParaRPr lang="en-US" sz="1600" dirty="0"/>
          </a:p>
        </p:txBody>
      </p:sp>
      <p:sp>
        <p:nvSpPr>
          <p:cNvPr id="8" name="Shape 5"/>
          <p:cNvSpPr/>
          <p:nvPr/>
        </p:nvSpPr>
        <p:spPr>
          <a:xfrm>
            <a:off x="2812694" y="1828800"/>
            <a:ext cx="2035454" cy="2743200"/>
          </a:xfrm>
          <a:prstGeom prst="roundRect">
            <a:avLst>
              <a:gd name="adj" fmla="val 5391"/>
            </a:avLst>
          </a:prstGeom>
          <a:solidFill>
            <a:srgbClr val="12305A"/>
          </a:solidFill>
          <a:ln w="12700">
            <a:solidFill>
              <a:srgbClr val="12305A"/>
            </a:solidFill>
            <a:prstDash val="solid"/>
          </a:ln>
        </p:spPr>
        <p:txBody>
          <a:bodyPr/>
          <a:lstStyle/>
          <a:p>
            <a:endParaRPr lang="en-US"/>
          </a:p>
        </p:txBody>
      </p:sp>
      <p:sp>
        <p:nvSpPr>
          <p:cNvPr id="9" name="Text 6"/>
          <p:cNvSpPr txBox="1"/>
          <p:nvPr/>
        </p:nvSpPr>
        <p:spPr>
          <a:xfrm>
            <a:off x="3041294" y="2011680"/>
            <a:ext cx="1578254"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2</a:t>
            </a:r>
            <a:endParaRPr lang="en-US" sz="1600" dirty="0"/>
          </a:p>
        </p:txBody>
      </p:sp>
      <p:sp>
        <p:nvSpPr>
          <p:cNvPr id="10" name="Text 7"/>
          <p:cNvSpPr txBox="1"/>
          <p:nvPr/>
        </p:nvSpPr>
        <p:spPr>
          <a:xfrm>
            <a:off x="3041294" y="2395728"/>
            <a:ext cx="1578254"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Decisions</a:t>
            </a:r>
            <a:endParaRPr lang="en-US" sz="2000" dirty="0"/>
          </a:p>
        </p:txBody>
      </p:sp>
      <p:sp>
        <p:nvSpPr>
          <p:cNvPr id="11" name="Text 8"/>
          <p:cNvSpPr txBox="1"/>
          <p:nvPr/>
        </p:nvSpPr>
        <p:spPr>
          <a:xfrm>
            <a:off x="3041294" y="2898648"/>
            <a:ext cx="1578254" cy="153619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Settle open choices before coding</a:t>
            </a:r>
            <a:endParaRPr lang="en-US" sz="1600" dirty="0"/>
          </a:p>
        </p:txBody>
      </p:sp>
      <p:sp>
        <p:nvSpPr>
          <p:cNvPr id="12" name="Shape 9"/>
          <p:cNvSpPr/>
          <p:nvPr/>
        </p:nvSpPr>
        <p:spPr>
          <a:xfrm>
            <a:off x="5076749" y="1828800"/>
            <a:ext cx="2035454" cy="2743200"/>
          </a:xfrm>
          <a:prstGeom prst="roundRect">
            <a:avLst>
              <a:gd name="adj" fmla="val 5391"/>
            </a:avLst>
          </a:prstGeom>
          <a:solidFill>
            <a:srgbClr val="12305A"/>
          </a:solidFill>
          <a:ln w="12700">
            <a:solidFill>
              <a:srgbClr val="12305A"/>
            </a:solidFill>
            <a:prstDash val="solid"/>
          </a:ln>
        </p:spPr>
        <p:txBody>
          <a:bodyPr/>
          <a:lstStyle/>
          <a:p>
            <a:endParaRPr lang="en-US"/>
          </a:p>
        </p:txBody>
      </p:sp>
      <p:sp>
        <p:nvSpPr>
          <p:cNvPr id="13" name="Text 10"/>
          <p:cNvSpPr txBox="1"/>
          <p:nvPr/>
        </p:nvSpPr>
        <p:spPr>
          <a:xfrm>
            <a:off x="5305349" y="2011680"/>
            <a:ext cx="1578254"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3</a:t>
            </a:r>
            <a:endParaRPr lang="en-US" sz="1600" dirty="0"/>
          </a:p>
        </p:txBody>
      </p:sp>
      <p:sp>
        <p:nvSpPr>
          <p:cNvPr id="14" name="Text 11"/>
          <p:cNvSpPr txBox="1"/>
          <p:nvPr/>
        </p:nvSpPr>
        <p:spPr>
          <a:xfrm>
            <a:off x="5305349" y="2395728"/>
            <a:ext cx="1578254"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Detailed plan</a:t>
            </a:r>
            <a:endParaRPr lang="en-US" sz="2000" dirty="0"/>
          </a:p>
        </p:txBody>
      </p:sp>
      <p:sp>
        <p:nvSpPr>
          <p:cNvPr id="15" name="Text 12"/>
          <p:cNvSpPr txBox="1"/>
          <p:nvPr/>
        </p:nvSpPr>
        <p:spPr>
          <a:xfrm>
            <a:off x="5305349" y="2898648"/>
            <a:ext cx="1578254" cy="153619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Written to plans/001-plan-name.md</a:t>
            </a:r>
            <a:endParaRPr lang="en-US" sz="1600" dirty="0"/>
          </a:p>
        </p:txBody>
      </p:sp>
      <p:sp>
        <p:nvSpPr>
          <p:cNvPr id="16" name="Shape 13"/>
          <p:cNvSpPr/>
          <p:nvPr/>
        </p:nvSpPr>
        <p:spPr>
          <a:xfrm>
            <a:off x="7340803" y="1828800"/>
            <a:ext cx="2035454" cy="2743200"/>
          </a:xfrm>
          <a:prstGeom prst="roundRect">
            <a:avLst>
              <a:gd name="adj" fmla="val 5391"/>
            </a:avLst>
          </a:prstGeom>
          <a:solidFill>
            <a:srgbClr val="12305A"/>
          </a:solidFill>
          <a:ln w="12700">
            <a:solidFill>
              <a:srgbClr val="12305A"/>
            </a:solidFill>
            <a:prstDash val="solid"/>
          </a:ln>
        </p:spPr>
        <p:txBody>
          <a:bodyPr/>
          <a:lstStyle/>
          <a:p>
            <a:endParaRPr lang="en-US"/>
          </a:p>
        </p:txBody>
      </p:sp>
      <p:sp>
        <p:nvSpPr>
          <p:cNvPr id="17" name="Text 14"/>
          <p:cNvSpPr txBox="1"/>
          <p:nvPr/>
        </p:nvSpPr>
        <p:spPr>
          <a:xfrm>
            <a:off x="7569403" y="2011680"/>
            <a:ext cx="1578254"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4</a:t>
            </a:r>
            <a:endParaRPr lang="en-US" sz="1600" dirty="0"/>
          </a:p>
        </p:txBody>
      </p:sp>
      <p:sp>
        <p:nvSpPr>
          <p:cNvPr id="18" name="Text 15"/>
          <p:cNvSpPr txBox="1"/>
          <p:nvPr/>
        </p:nvSpPr>
        <p:spPr>
          <a:xfrm>
            <a:off x="7569403" y="2395728"/>
            <a:ext cx="1578254"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Tests + criteria</a:t>
            </a:r>
            <a:endParaRPr lang="en-US" sz="2000" dirty="0"/>
          </a:p>
        </p:txBody>
      </p:sp>
      <p:sp>
        <p:nvSpPr>
          <p:cNvPr id="19" name="Text 16"/>
          <p:cNvSpPr txBox="1"/>
          <p:nvPr/>
        </p:nvSpPr>
        <p:spPr>
          <a:xfrm>
            <a:off x="7569403" y="2898648"/>
            <a:ext cx="1578254" cy="153619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Acceptance criteria, test plan</a:t>
            </a:r>
            <a:endParaRPr lang="en-US" sz="1600" dirty="0"/>
          </a:p>
        </p:txBody>
      </p:sp>
      <p:sp>
        <p:nvSpPr>
          <p:cNvPr id="20" name="Shape 17"/>
          <p:cNvSpPr/>
          <p:nvPr/>
        </p:nvSpPr>
        <p:spPr>
          <a:xfrm>
            <a:off x="9604858" y="1828800"/>
            <a:ext cx="2035454" cy="2743200"/>
          </a:xfrm>
          <a:prstGeom prst="roundRect">
            <a:avLst>
              <a:gd name="adj" fmla="val 5391"/>
            </a:avLst>
          </a:prstGeom>
          <a:solidFill>
            <a:srgbClr val="12305A"/>
          </a:solidFill>
          <a:ln w="12700">
            <a:solidFill>
              <a:srgbClr val="12305A"/>
            </a:solidFill>
            <a:prstDash val="solid"/>
          </a:ln>
        </p:spPr>
        <p:txBody>
          <a:bodyPr/>
          <a:lstStyle/>
          <a:p>
            <a:endParaRPr lang="en-US"/>
          </a:p>
        </p:txBody>
      </p:sp>
      <p:sp>
        <p:nvSpPr>
          <p:cNvPr id="21" name="Text 18"/>
          <p:cNvSpPr txBox="1"/>
          <p:nvPr/>
        </p:nvSpPr>
        <p:spPr>
          <a:xfrm>
            <a:off x="9833458" y="2011680"/>
            <a:ext cx="1578254"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5</a:t>
            </a:r>
            <a:endParaRPr lang="en-US" sz="1600" dirty="0"/>
          </a:p>
        </p:txBody>
      </p:sp>
      <p:sp>
        <p:nvSpPr>
          <p:cNvPr id="22" name="Text 19"/>
          <p:cNvSpPr txBox="1"/>
          <p:nvPr/>
        </p:nvSpPr>
        <p:spPr>
          <a:xfrm>
            <a:off x="9833458" y="2395728"/>
            <a:ext cx="1578254"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Phases + gates</a:t>
            </a:r>
            <a:endParaRPr lang="en-US" sz="2000" dirty="0"/>
          </a:p>
        </p:txBody>
      </p:sp>
      <p:sp>
        <p:nvSpPr>
          <p:cNvPr id="23" name="Text 20"/>
          <p:cNvSpPr txBox="1"/>
          <p:nvPr/>
        </p:nvSpPr>
        <p:spPr>
          <a:xfrm>
            <a:off x="9833458" y="2898648"/>
            <a:ext cx="1578254" cy="153619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Exit gate to pass before the next</a:t>
            </a:r>
            <a:endParaRPr lang="en-US" sz="1600" dirty="0"/>
          </a:p>
        </p:txBody>
      </p:sp>
      <p:sp>
        <p:nvSpPr>
          <p:cNvPr id="24" name="Text 21"/>
          <p:cNvSpPr txBox="1"/>
          <p:nvPr/>
        </p:nvSpPr>
        <p:spPr>
          <a:xfrm>
            <a:off x="548640" y="5029200"/>
            <a:ext cx="11091672" cy="457200"/>
          </a:xfrm>
          <a:prstGeom prst="rect">
            <a:avLst/>
          </a:prstGeom>
          <a:noFill/>
          <a:ln/>
        </p:spPr>
        <p:txBody>
          <a:bodyPr wrap="square" lIns="0" tIns="0" rIns="0" bIns="0" rtlCol="0" anchor="ctr"/>
          <a:lstStyle/>
          <a:p>
            <a:pPr marL="0" indent="0">
              <a:buNone/>
            </a:pPr>
            <a:r>
              <a:rPr lang="en-US" sz="2000" dirty="0">
                <a:solidFill>
                  <a:srgbClr val="5EEAD4"/>
                </a:solidFill>
                <a:latin typeface="Calibri" pitchFamily="34" charset="0"/>
                <a:ea typeface="Calibri" pitchFamily="34" charset="-122"/>
                <a:cs typeface="Calibri" pitchFamily="34" charset="-120"/>
              </a:rPr>
              <a:t>Exit gate example: "tests pass, ruff and mypy clean, debug run works"</a:t>
            </a:r>
            <a:endParaRPr lang="en-US" sz="2000" dirty="0"/>
          </a:p>
        </p:txBody>
      </p:sp>
      <p:sp>
        <p:nvSpPr>
          <p:cNvPr id="25" name="Text 22"/>
          <p:cNvSpPr txBox="1"/>
          <p:nvPr/>
        </p:nvSpPr>
        <p:spPr>
          <a:xfrm>
            <a:off x="548640" y="5577840"/>
            <a:ext cx="11091672" cy="457200"/>
          </a:xfrm>
          <a:prstGeom prst="rect">
            <a:avLst/>
          </a:prstGeom>
          <a:noFill/>
          <a:ln/>
        </p:spPr>
        <p:txBody>
          <a:bodyPr wrap="square" lIns="0" tIns="0" rIns="0" bIns="0" rtlCol="0" anchor="ctr"/>
          <a:lstStyle/>
          <a:p>
            <a:pPr marL="0" indent="0">
              <a:buNone/>
            </a:pPr>
            <a:r>
              <a:rPr lang="en-US" sz="1800" dirty="0">
                <a:solidFill>
                  <a:srgbClr val="A9BCD6"/>
                </a:solidFill>
                <a:latin typeface="Calibri" pitchFamily="34" charset="0"/>
                <a:ea typeface="Calibri" pitchFamily="34" charset="-122"/>
                <a:cs typeface="Calibri" pitchFamily="34" charset="-120"/>
              </a:rPr>
              <a:t>A written plan survives context resets. Claude re-reads it, so nothing is lost.</a:t>
            </a:r>
            <a:endParaRPr lang="en-US" sz="18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Then the loop is one sentence: </a:t>
            </a:r>
            <a:r>
              <a:rPr lang="en-US" sz="3000" b="1" dirty="0">
                <a:solidFill>
                  <a:srgbClr val="FF8A2B"/>
                </a:solidFill>
                <a:latin typeface="Calibri" pitchFamily="34" charset="0"/>
                <a:ea typeface="Calibri" pitchFamily="34" charset="-122"/>
                <a:cs typeface="Calibri" pitchFamily="34" charset="-120"/>
              </a:rPr>
              <a:t>next phase</a:t>
            </a:r>
            <a:endParaRPr lang="en-US" sz="3000" dirty="0"/>
          </a:p>
        </p:txBody>
      </p:sp>
      <p:sp>
        <p:nvSpPr>
          <p:cNvPr id="4" name="Shape 1"/>
          <p:cNvSpPr/>
          <p:nvPr/>
        </p:nvSpPr>
        <p:spPr>
          <a:xfrm>
            <a:off x="548640" y="1645920"/>
            <a:ext cx="5303520" cy="4480560"/>
          </a:xfrm>
          <a:prstGeom prst="roundRect">
            <a:avLst>
              <a:gd name="adj" fmla="val 2041"/>
            </a:avLst>
          </a:prstGeom>
          <a:solidFill>
            <a:srgbClr val="081628"/>
          </a:solidFill>
          <a:ln w="12700">
            <a:solidFill>
              <a:srgbClr val="1E3F6F"/>
            </a:solidFill>
            <a:prstDash val="solid"/>
          </a:ln>
        </p:spPr>
        <p:txBody>
          <a:bodyPr/>
          <a:lstStyle/>
          <a:p>
            <a:endParaRPr lang="en-US"/>
          </a:p>
        </p:txBody>
      </p:sp>
      <p:sp>
        <p:nvSpPr>
          <p:cNvPr id="5" name="Text 2"/>
          <p:cNvSpPr txBox="1"/>
          <p:nvPr/>
        </p:nvSpPr>
        <p:spPr>
          <a:xfrm>
            <a:off x="777240" y="1783080"/>
            <a:ext cx="4846320" cy="4206240"/>
          </a:xfrm>
          <a:prstGeom prst="rect">
            <a:avLst/>
          </a:prstGeom>
          <a:noFill/>
          <a:ln/>
        </p:spPr>
        <p:txBody>
          <a:bodyPr wrap="square" lIns="0" tIns="0" rIns="0" bIns="0" rtlCol="0" anchor="t"/>
          <a:lstStyle/>
          <a:p>
            <a:pPr marL="0" indent="0">
              <a:buNone/>
            </a:pPr>
            <a:r>
              <a:rPr lang="en-US" sz="1600" dirty="0">
                <a:solidFill>
                  <a:srgbClr val="F2F6FC"/>
                </a:solidFill>
                <a:latin typeface="Courier New" pitchFamily="34" charset="0"/>
                <a:ea typeface="Courier New" pitchFamily="34" charset="-122"/>
                <a:cs typeface="Courier New" pitchFamily="34" charset="-120"/>
              </a:rPr>
              <a:t>plans/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001-plan-main.md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Phase 1: build, tests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Exit gate: tests pass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Phase 2: ...</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progress.md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Status: phase 2 done</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Done / In progress / Next</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Gate evidence</a:t>
            </a:r>
            <a:endParaRPr lang="en-US" sz="1600" dirty="0"/>
          </a:p>
        </p:txBody>
      </p:sp>
      <p:sp>
        <p:nvSpPr>
          <p:cNvPr id="6" name="Shape 3"/>
          <p:cNvSpPr/>
          <p:nvPr/>
        </p:nvSpPr>
        <p:spPr>
          <a:xfrm>
            <a:off x="6309360" y="1737360"/>
            <a:ext cx="640080" cy="640080"/>
          </a:xfrm>
          <a:prstGeom prst="ellipse">
            <a:avLst/>
          </a:prstGeom>
          <a:solidFill>
            <a:srgbClr val="38BDF8"/>
          </a:solidFill>
          <a:ln w="12700">
            <a:solidFill>
              <a:srgbClr val="38BDF8"/>
            </a:solidFill>
            <a:prstDash val="solid"/>
          </a:ln>
        </p:spPr>
        <p:txBody>
          <a:bodyPr/>
          <a:lstStyle/>
          <a:p>
            <a:endParaRPr lang="en-US"/>
          </a:p>
        </p:txBody>
      </p:sp>
      <p:sp>
        <p:nvSpPr>
          <p:cNvPr id="7" name="Text 4"/>
          <p:cNvSpPr txBox="1"/>
          <p:nvPr/>
        </p:nvSpPr>
        <p:spPr>
          <a:xfrm>
            <a:off x="6309360" y="1737360"/>
            <a:ext cx="640080" cy="640080"/>
          </a:xfrm>
          <a:prstGeom prst="rect">
            <a:avLst/>
          </a:prstGeom>
          <a:noFill/>
          <a:ln/>
        </p:spPr>
        <p:txBody>
          <a:bodyPr wrap="square" lIns="0" tIns="0" rIns="0" bIns="0" rtlCol="0" anchor="ctr"/>
          <a:lstStyle/>
          <a:p>
            <a:pPr marL="0" indent="0" algn="ctr">
              <a:buNone/>
            </a:pPr>
            <a:r>
              <a:rPr lang="en-US" sz="2200" b="1" dirty="0">
                <a:solidFill>
                  <a:srgbClr val="0B1F3A"/>
                </a:solidFill>
                <a:latin typeface="Calibri" pitchFamily="34" charset="0"/>
                <a:ea typeface="Calibri" pitchFamily="34" charset="-122"/>
                <a:cs typeface="Calibri" pitchFamily="34" charset="-120"/>
              </a:rPr>
              <a:t>1</a:t>
            </a:r>
            <a:endParaRPr lang="en-US" sz="2200" dirty="0"/>
          </a:p>
        </p:txBody>
      </p:sp>
      <p:sp>
        <p:nvSpPr>
          <p:cNvPr id="8" name="Text 5"/>
          <p:cNvSpPr txBox="1"/>
          <p:nvPr/>
        </p:nvSpPr>
        <p:spPr>
          <a:xfrm>
            <a:off x="7178040" y="1645920"/>
            <a:ext cx="4462272" cy="822960"/>
          </a:xfrm>
          <a:prstGeom prst="rect">
            <a:avLst/>
          </a:prstGeom>
          <a:noFill/>
          <a:ln/>
        </p:spPr>
        <p:txBody>
          <a:bodyPr wrap="square" lIns="0" tIns="0" rIns="0" bIns="0" rtlCol="0" anchor="ctr"/>
          <a:lstStyle/>
          <a:p>
            <a:pPr marL="0" indent="0">
              <a:buNone/>
            </a:pPr>
            <a:r>
              <a:rPr lang="en-US" sz="2000" dirty="0">
                <a:solidFill>
                  <a:srgbClr val="F2F6FC"/>
                </a:solidFill>
                <a:latin typeface="Calibri" pitchFamily="34" charset="0"/>
                <a:ea typeface="Calibri" pitchFamily="34" charset="-122"/>
                <a:cs typeface="Calibri" pitchFamily="34" charset="-120"/>
              </a:rPr>
              <a:t>Claude builds the phase</a:t>
            </a:r>
            <a:endParaRPr lang="en-US" sz="2000" dirty="0"/>
          </a:p>
        </p:txBody>
      </p:sp>
      <p:sp>
        <p:nvSpPr>
          <p:cNvPr id="9" name="Shape 6"/>
          <p:cNvSpPr/>
          <p:nvPr/>
        </p:nvSpPr>
        <p:spPr>
          <a:xfrm>
            <a:off x="6309360" y="2880360"/>
            <a:ext cx="640080" cy="640080"/>
          </a:xfrm>
          <a:prstGeom prst="ellipse">
            <a:avLst/>
          </a:prstGeom>
          <a:solidFill>
            <a:srgbClr val="38BDF8"/>
          </a:solidFill>
          <a:ln w="12700">
            <a:solidFill>
              <a:srgbClr val="38BDF8"/>
            </a:solidFill>
            <a:prstDash val="solid"/>
          </a:ln>
        </p:spPr>
        <p:txBody>
          <a:bodyPr/>
          <a:lstStyle/>
          <a:p>
            <a:endParaRPr lang="en-US"/>
          </a:p>
        </p:txBody>
      </p:sp>
      <p:sp>
        <p:nvSpPr>
          <p:cNvPr id="10" name="Text 7"/>
          <p:cNvSpPr txBox="1"/>
          <p:nvPr/>
        </p:nvSpPr>
        <p:spPr>
          <a:xfrm>
            <a:off x="6309360" y="2880360"/>
            <a:ext cx="640080" cy="640080"/>
          </a:xfrm>
          <a:prstGeom prst="rect">
            <a:avLst/>
          </a:prstGeom>
          <a:noFill/>
          <a:ln/>
        </p:spPr>
        <p:txBody>
          <a:bodyPr wrap="square" lIns="0" tIns="0" rIns="0" bIns="0" rtlCol="0" anchor="ctr"/>
          <a:lstStyle/>
          <a:p>
            <a:pPr marL="0" indent="0" algn="ctr">
              <a:buNone/>
            </a:pPr>
            <a:r>
              <a:rPr lang="en-US" sz="2200" b="1" dirty="0">
                <a:solidFill>
                  <a:srgbClr val="0B1F3A"/>
                </a:solidFill>
                <a:latin typeface="Calibri" pitchFamily="34" charset="0"/>
                <a:ea typeface="Calibri" pitchFamily="34" charset="-122"/>
                <a:cs typeface="Calibri" pitchFamily="34" charset="-120"/>
              </a:rPr>
              <a:t>2</a:t>
            </a:r>
            <a:endParaRPr lang="en-US" sz="2200" dirty="0"/>
          </a:p>
        </p:txBody>
      </p:sp>
      <p:sp>
        <p:nvSpPr>
          <p:cNvPr id="11" name="Text 8"/>
          <p:cNvSpPr txBox="1"/>
          <p:nvPr/>
        </p:nvSpPr>
        <p:spPr>
          <a:xfrm>
            <a:off x="7178040" y="2788920"/>
            <a:ext cx="4462272" cy="822960"/>
          </a:xfrm>
          <a:prstGeom prst="rect">
            <a:avLst/>
          </a:prstGeom>
          <a:noFill/>
          <a:ln/>
        </p:spPr>
        <p:txBody>
          <a:bodyPr wrap="square" lIns="0" tIns="0" rIns="0" bIns="0" rtlCol="0" anchor="ctr"/>
          <a:lstStyle/>
          <a:p>
            <a:pPr marL="0" indent="0">
              <a:buNone/>
            </a:pPr>
            <a:r>
              <a:rPr lang="en-US" sz="2000" dirty="0">
                <a:solidFill>
                  <a:srgbClr val="F2F6FC"/>
                </a:solidFill>
                <a:latin typeface="Calibri" pitchFamily="34" charset="0"/>
                <a:ea typeface="Calibri" pitchFamily="34" charset="-122"/>
                <a:cs typeface="Calibri" pitchFamily="34" charset="-120"/>
              </a:rPr>
              <a:t>Runs tests and the exit gate</a:t>
            </a:r>
            <a:endParaRPr lang="en-US" sz="2000" dirty="0"/>
          </a:p>
        </p:txBody>
      </p:sp>
      <p:sp>
        <p:nvSpPr>
          <p:cNvPr id="12" name="Shape 9"/>
          <p:cNvSpPr/>
          <p:nvPr/>
        </p:nvSpPr>
        <p:spPr>
          <a:xfrm>
            <a:off x="6309360" y="4023360"/>
            <a:ext cx="640080" cy="640080"/>
          </a:xfrm>
          <a:prstGeom prst="ellipse">
            <a:avLst/>
          </a:prstGeom>
          <a:solidFill>
            <a:srgbClr val="38BDF8"/>
          </a:solidFill>
          <a:ln w="12700">
            <a:solidFill>
              <a:srgbClr val="38BDF8"/>
            </a:solidFill>
            <a:prstDash val="solid"/>
          </a:ln>
        </p:spPr>
        <p:txBody>
          <a:bodyPr/>
          <a:lstStyle/>
          <a:p>
            <a:endParaRPr lang="en-US"/>
          </a:p>
        </p:txBody>
      </p:sp>
      <p:sp>
        <p:nvSpPr>
          <p:cNvPr id="13" name="Text 10"/>
          <p:cNvSpPr txBox="1"/>
          <p:nvPr/>
        </p:nvSpPr>
        <p:spPr>
          <a:xfrm>
            <a:off x="6309360" y="4023360"/>
            <a:ext cx="640080" cy="640080"/>
          </a:xfrm>
          <a:prstGeom prst="rect">
            <a:avLst/>
          </a:prstGeom>
          <a:noFill/>
          <a:ln/>
        </p:spPr>
        <p:txBody>
          <a:bodyPr wrap="square" lIns="0" tIns="0" rIns="0" bIns="0" rtlCol="0" anchor="ctr"/>
          <a:lstStyle/>
          <a:p>
            <a:pPr marL="0" indent="0" algn="ctr">
              <a:buNone/>
            </a:pPr>
            <a:r>
              <a:rPr lang="en-US" sz="2200" b="1" dirty="0">
                <a:solidFill>
                  <a:srgbClr val="0B1F3A"/>
                </a:solidFill>
                <a:latin typeface="Calibri" pitchFamily="34" charset="0"/>
                <a:ea typeface="Calibri" pitchFamily="34" charset="-122"/>
                <a:cs typeface="Calibri" pitchFamily="34" charset="-120"/>
              </a:rPr>
              <a:t>3</a:t>
            </a:r>
            <a:endParaRPr lang="en-US" sz="2200" dirty="0"/>
          </a:p>
        </p:txBody>
      </p:sp>
      <p:sp>
        <p:nvSpPr>
          <p:cNvPr id="14" name="Text 11"/>
          <p:cNvSpPr txBox="1"/>
          <p:nvPr/>
        </p:nvSpPr>
        <p:spPr>
          <a:xfrm>
            <a:off x="7178040" y="3931920"/>
            <a:ext cx="4462272" cy="822960"/>
          </a:xfrm>
          <a:prstGeom prst="rect">
            <a:avLst/>
          </a:prstGeom>
          <a:noFill/>
          <a:ln/>
        </p:spPr>
        <p:txBody>
          <a:bodyPr wrap="square" lIns="0" tIns="0" rIns="0" bIns="0" rtlCol="0" anchor="ctr"/>
          <a:lstStyle/>
          <a:p>
            <a:pPr marL="0" indent="0">
              <a:buNone/>
            </a:pPr>
            <a:r>
              <a:rPr lang="en-US" sz="2000" dirty="0">
                <a:solidFill>
                  <a:srgbClr val="F2F6FC"/>
                </a:solidFill>
                <a:latin typeface="Calibri" pitchFamily="34" charset="0"/>
                <a:ea typeface="Calibri" pitchFamily="34" charset="-122"/>
                <a:cs typeface="Calibri" pitchFamily="34" charset="-120"/>
              </a:rPr>
              <a:t>Updates progress.md with evidence</a:t>
            </a:r>
            <a:endParaRPr lang="en-US" sz="2000" dirty="0"/>
          </a:p>
        </p:txBody>
      </p:sp>
      <p:sp>
        <p:nvSpPr>
          <p:cNvPr id="15" name="Shape 12"/>
          <p:cNvSpPr/>
          <p:nvPr/>
        </p:nvSpPr>
        <p:spPr>
          <a:xfrm>
            <a:off x="6309360" y="5166360"/>
            <a:ext cx="640080" cy="640080"/>
          </a:xfrm>
          <a:prstGeom prst="ellipse">
            <a:avLst/>
          </a:prstGeom>
          <a:solidFill>
            <a:srgbClr val="38BDF8"/>
          </a:solidFill>
          <a:ln w="12700">
            <a:solidFill>
              <a:srgbClr val="38BDF8"/>
            </a:solidFill>
            <a:prstDash val="solid"/>
          </a:ln>
        </p:spPr>
        <p:txBody>
          <a:bodyPr/>
          <a:lstStyle/>
          <a:p>
            <a:endParaRPr lang="en-US"/>
          </a:p>
        </p:txBody>
      </p:sp>
      <p:sp>
        <p:nvSpPr>
          <p:cNvPr id="16" name="Text 13"/>
          <p:cNvSpPr txBox="1"/>
          <p:nvPr/>
        </p:nvSpPr>
        <p:spPr>
          <a:xfrm>
            <a:off x="6309360" y="5166360"/>
            <a:ext cx="640080" cy="640080"/>
          </a:xfrm>
          <a:prstGeom prst="rect">
            <a:avLst/>
          </a:prstGeom>
          <a:noFill/>
          <a:ln/>
        </p:spPr>
        <p:txBody>
          <a:bodyPr wrap="square" lIns="0" tIns="0" rIns="0" bIns="0" rtlCol="0" anchor="ctr"/>
          <a:lstStyle/>
          <a:p>
            <a:pPr marL="0" indent="0" algn="ctr">
              <a:buNone/>
            </a:pPr>
            <a:r>
              <a:rPr lang="en-US" sz="2200" b="1" dirty="0">
                <a:solidFill>
                  <a:srgbClr val="0B1F3A"/>
                </a:solidFill>
                <a:latin typeface="Calibri" pitchFamily="34" charset="0"/>
                <a:ea typeface="Calibri" pitchFamily="34" charset="-122"/>
                <a:cs typeface="Calibri" pitchFamily="34" charset="-120"/>
              </a:rPr>
              <a:t>4</a:t>
            </a:r>
            <a:endParaRPr lang="en-US" sz="2200" dirty="0"/>
          </a:p>
        </p:txBody>
      </p:sp>
      <p:sp>
        <p:nvSpPr>
          <p:cNvPr id="17" name="Text 14"/>
          <p:cNvSpPr txBox="1"/>
          <p:nvPr/>
        </p:nvSpPr>
        <p:spPr>
          <a:xfrm>
            <a:off x="7178040" y="5074920"/>
            <a:ext cx="4462272" cy="822960"/>
          </a:xfrm>
          <a:prstGeom prst="rect">
            <a:avLst/>
          </a:prstGeom>
          <a:noFill/>
          <a:ln/>
        </p:spPr>
        <p:txBody>
          <a:bodyPr wrap="square" lIns="0" tIns="0" rIns="0" bIns="0" rtlCol="0" anchor="ctr"/>
          <a:lstStyle/>
          <a:p>
            <a:pPr marL="0" indent="0">
              <a:buNone/>
            </a:pPr>
            <a:r>
              <a:rPr lang="en-US" sz="2000" dirty="0">
                <a:solidFill>
                  <a:srgbClr val="F2F6FC"/>
                </a:solidFill>
                <a:latin typeface="Calibri" pitchFamily="34" charset="0"/>
                <a:ea typeface="Calibri" pitchFamily="34" charset="-122"/>
                <a:cs typeface="Calibri" pitchFamily="34" charset="-120"/>
              </a:rPr>
              <a:t>I review, then say: next phase</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822960" y="2697480"/>
            <a:ext cx="1371600" cy="1371600"/>
          </a:xfrm>
          <a:prstGeom prst="ellipse">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697480"/>
            <a:ext cx="1371600" cy="1371600"/>
          </a:xfrm>
          <a:prstGeom prst="rect">
            <a:avLst/>
          </a:prstGeom>
          <a:noFill/>
        </p:spPr>
        <p:txBody>
          <a:bodyPr wrap="square" lIns="0" tIns="0" rIns="0" bIns="0" anchor="ctr">
            <a:spAutoFit/>
          </a:bodyPr>
          <a:lstStyle/>
          <a:p>
            <a:pPr algn="ctr"/>
            <a:r>
              <a:rPr sz="6000" b="1">
                <a:solidFill>
                  <a:srgbClr val="0B1F3A"/>
                </a:solidFill>
                <a:latin typeface="Calibri"/>
              </a:rPr>
              <a:t>4</a:t>
            </a:r>
          </a:p>
        </p:txBody>
      </p:sp>
      <p:sp>
        <p:nvSpPr>
          <p:cNvPr id="4" name="TextBox 3"/>
          <p:cNvSpPr txBox="1"/>
          <p:nvPr/>
        </p:nvSpPr>
        <p:spPr>
          <a:xfrm>
            <a:off x="2651760" y="2606040"/>
            <a:ext cx="5486400" cy="914400"/>
          </a:xfrm>
          <a:prstGeom prst="rect">
            <a:avLst/>
          </a:prstGeom>
          <a:noFill/>
        </p:spPr>
        <p:txBody>
          <a:bodyPr wrap="square" lIns="0" tIns="0" rIns="0" bIns="0" anchor="ctr">
            <a:spAutoFit/>
          </a:bodyPr>
          <a:lstStyle/>
          <a:p>
            <a:pPr algn="l"/>
            <a:r>
              <a:rPr sz="5400" b="1">
                <a:solidFill>
                  <a:srgbClr val="F2F6FC"/>
                </a:solidFill>
                <a:latin typeface="Calibri"/>
              </a:rPr>
              <a:t>Drive</a:t>
            </a:r>
          </a:p>
        </p:txBody>
      </p:sp>
      <p:sp>
        <p:nvSpPr>
          <p:cNvPr id="5" name="TextBox 4"/>
          <p:cNvSpPr txBox="1"/>
          <p:nvPr/>
        </p:nvSpPr>
        <p:spPr>
          <a:xfrm>
            <a:off x="2651760" y="3611880"/>
            <a:ext cx="5486400" cy="822960"/>
          </a:xfrm>
          <a:prstGeom prst="rect">
            <a:avLst/>
          </a:prstGeom>
          <a:noFill/>
        </p:spPr>
        <p:txBody>
          <a:bodyPr wrap="square" lIns="0" tIns="0" rIns="0" bIns="0" anchor="t">
            <a:spAutoFit/>
          </a:bodyPr>
          <a:lstStyle/>
          <a:p>
            <a:pPr algn="l"/>
            <a:r>
              <a:rPr sz="2200" b="0">
                <a:solidFill>
                  <a:srgbClr val="A9BCD6"/>
                </a:solidFill>
                <a:latin typeface="Calibri"/>
              </a:rPr>
              <a:t>Daily commands and flags</a:t>
            </a:r>
          </a:p>
        </p:txBody>
      </p:sp>
      <p:sp>
        <p:nvSpPr>
          <p:cNvPr id="6" name="Rounded Rectangle 5"/>
          <p:cNvSpPr/>
          <p:nvPr/>
        </p:nvSpPr>
        <p:spPr>
          <a:xfrm>
            <a:off x="8412480" y="1737360"/>
            <a:ext cx="3246120" cy="3383280"/>
          </a:xfrm>
          <a:prstGeom prst="roundRect">
            <a:avLst>
              <a:gd name="adj" fmla="val 6000"/>
            </a:avLst>
          </a:prstGeom>
          <a:solidFill>
            <a:srgbClr val="1230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0" y="1965960"/>
            <a:ext cx="2743200" cy="365760"/>
          </a:xfrm>
          <a:prstGeom prst="rect">
            <a:avLst/>
          </a:prstGeom>
          <a:noFill/>
        </p:spPr>
        <p:txBody>
          <a:bodyPr wrap="square" lIns="0" tIns="0" rIns="0" bIns="0" anchor="t">
            <a:spAutoFit/>
          </a:bodyPr>
          <a:lstStyle/>
          <a:p>
            <a:pPr algn="l"/>
            <a:r>
              <a:rPr sz="1600" b="1">
                <a:solidFill>
                  <a:srgbClr val="38BDF8"/>
                </a:solidFill>
                <a:latin typeface="Calibri"/>
              </a:rPr>
              <a:t>In this section</a:t>
            </a:r>
          </a:p>
        </p:txBody>
      </p:sp>
      <p:sp>
        <p:nvSpPr>
          <p:cNvPr id="8" name="TextBox 7"/>
          <p:cNvSpPr txBox="1"/>
          <p:nvPr/>
        </p:nvSpPr>
        <p:spPr>
          <a:xfrm>
            <a:off x="8686800" y="2423160"/>
            <a:ext cx="2743200" cy="2560320"/>
          </a:xfrm>
          <a:prstGeom prst="rect">
            <a:avLst/>
          </a:prstGeom>
          <a:noFill/>
        </p:spPr>
        <p:txBody>
          <a:bodyPr wrap="square" lIns="0" tIns="0" rIns="0" bIns="0" anchor="t">
            <a:spAutoFit/>
          </a:bodyPr>
          <a:lstStyle/>
          <a:p>
            <a:pPr algn="l"/>
            <a:r>
              <a:rPr sz="1800" b="0">
                <a:solidFill>
                  <a:srgbClr val="F2F6FC"/>
                </a:solidFill>
                <a:latin typeface="Calibri"/>
              </a:rPr>
              <a:t>Context management</a:t>
            </a:r>
          </a:p>
          <a:p>
            <a:pPr>
              <a:spcBef>
                <a:spcPts val="800"/>
              </a:spcBef>
            </a:pPr>
            <a:r>
              <a:rPr sz="1800">
                <a:solidFill>
                  <a:srgbClr val="F2F6FC"/>
                </a:solidFill>
                <a:latin typeface="Calibri"/>
              </a:rPr>
              <a:t>Terminal flags</a:t>
            </a:r>
          </a:p>
          <a:p>
            <a:pPr>
              <a:spcBef>
                <a:spcPts val="800"/>
              </a:spcBef>
            </a:pPr>
            <a:r>
              <a:rPr sz="1800">
                <a:solidFill>
                  <a:srgbClr val="F2F6FC"/>
                </a:solidFill>
                <a:latin typeface="Calibri"/>
              </a:rPr>
              <a:t>MCP</a:t>
            </a:r>
          </a:p>
          <a:p>
            <a:pPr>
              <a:spcBef>
                <a:spcPts val="800"/>
              </a:spcBef>
            </a:pPr>
            <a:r>
              <a:rPr sz="1800">
                <a:solidFill>
                  <a:srgbClr val="F2F6FC"/>
                </a:solidFill>
                <a:latin typeface="Calibri"/>
              </a:rPr>
              <a:t>Review commands</a:t>
            </a:r>
          </a:p>
          <a:p>
            <a:pPr>
              <a:spcBef>
                <a:spcPts val="800"/>
              </a:spcBef>
            </a:pPr>
            <a:r>
              <a:rPr sz="1800">
                <a:solidFill>
                  <a:srgbClr val="F2F6FC"/>
                </a:solidFill>
                <a:latin typeface="Calibri"/>
              </a:rPr>
              <a:t>Remote and learning</a:t>
            </a:r>
          </a:p>
          <a:p>
            <a:pPr>
              <a:spcBef>
                <a:spcPts val="800"/>
              </a:spcBef>
            </a:pPr>
            <a:r>
              <a:rPr sz="1800">
                <a:solidFill>
                  <a:srgbClr val="F2F6FC"/>
                </a:solidFill>
                <a:latin typeface="Calibri"/>
              </a:rPr>
              <a:t>Habits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F8A2B"/>
                </a:solidFill>
                <a:latin typeface="Calibri" pitchFamily="34" charset="0"/>
                <a:ea typeface="Calibri" pitchFamily="34" charset="-122"/>
                <a:cs typeface="Calibri" pitchFamily="34" charset="-120"/>
              </a:rPr>
              <a:t>/</a:t>
            </a:r>
            <a:r>
              <a:rPr lang="en-US" sz="3000" b="1">
                <a:solidFill>
                  <a:srgbClr val="FF8A2B"/>
                </a:solidFill>
                <a:latin typeface="Calibri" pitchFamily="34" charset="0"/>
                <a:ea typeface="Calibri" pitchFamily="34" charset="-122"/>
                <a:cs typeface="Calibri" pitchFamily="34" charset="-120"/>
              </a:rPr>
              <a:t>clear </a:t>
            </a:r>
            <a:r>
              <a:rPr lang="en-US" sz="3000" b="1">
                <a:solidFill>
                  <a:srgbClr val="F2F6FC"/>
                </a:solidFill>
                <a:latin typeface="Calibri" pitchFamily="34" charset="0"/>
                <a:ea typeface="Calibri" pitchFamily="34" charset="-122"/>
                <a:cs typeface="Calibri" pitchFamily="34" charset="-120"/>
              </a:rPr>
              <a:t>often</a:t>
            </a:r>
            <a:r>
              <a:rPr lang="en-US" sz="3000" b="1" dirty="0">
                <a:solidFill>
                  <a:srgbClr val="F2F6FC"/>
                </a:solidFill>
                <a:latin typeface="Calibri" pitchFamily="34" charset="0"/>
                <a:ea typeface="Calibri" pitchFamily="34" charset="-122"/>
                <a:cs typeface="Calibri" pitchFamily="34" charset="-120"/>
              </a:rPr>
              <a:t>: keep the context lean</a:t>
            </a:r>
            <a:endParaRPr lang="en-US" sz="3000" dirty="0"/>
          </a:p>
        </p:txBody>
      </p:sp>
      <p:sp>
        <p:nvSpPr>
          <p:cNvPr id="4" name="Shape 1"/>
          <p:cNvSpPr/>
          <p:nvPr/>
        </p:nvSpPr>
        <p:spPr>
          <a:xfrm>
            <a:off x="548640" y="169164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87452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/context</a:t>
            </a:r>
            <a:endParaRPr lang="en-US" sz="2400" dirty="0"/>
          </a:p>
        </p:txBody>
      </p:sp>
      <p:sp>
        <p:nvSpPr>
          <p:cNvPr id="6" name="Text 3"/>
          <p:cNvSpPr txBox="1"/>
          <p:nvPr/>
        </p:nvSpPr>
        <p:spPr>
          <a:xfrm>
            <a:off x="777240" y="237744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See what fills the context window</a:t>
            </a:r>
            <a:endParaRPr lang="en-US" sz="1600" dirty="0"/>
          </a:p>
        </p:txBody>
      </p:sp>
      <p:sp>
        <p:nvSpPr>
          <p:cNvPr id="7" name="Shape 4"/>
          <p:cNvSpPr/>
          <p:nvPr/>
        </p:nvSpPr>
        <p:spPr>
          <a:xfrm>
            <a:off x="3378708" y="169164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8" name="Text 5"/>
          <p:cNvSpPr txBox="1"/>
          <p:nvPr/>
        </p:nvSpPr>
        <p:spPr>
          <a:xfrm>
            <a:off x="3607308" y="187452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/clear</a:t>
            </a:r>
            <a:endParaRPr lang="en-US" sz="2400" dirty="0"/>
          </a:p>
        </p:txBody>
      </p:sp>
      <p:sp>
        <p:nvSpPr>
          <p:cNvPr id="9" name="Text 6"/>
          <p:cNvSpPr txBox="1"/>
          <p:nvPr/>
        </p:nvSpPr>
        <p:spPr>
          <a:xfrm>
            <a:off x="3607308" y="237744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Fresh start between unrelated tasks</a:t>
            </a:r>
            <a:endParaRPr lang="en-US" sz="1600" dirty="0"/>
          </a:p>
        </p:txBody>
      </p:sp>
      <p:sp>
        <p:nvSpPr>
          <p:cNvPr id="10" name="Shape 7"/>
          <p:cNvSpPr/>
          <p:nvPr/>
        </p:nvSpPr>
        <p:spPr>
          <a:xfrm>
            <a:off x="6208776" y="169164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1" name="Text 8"/>
          <p:cNvSpPr txBox="1"/>
          <p:nvPr/>
        </p:nvSpPr>
        <p:spPr>
          <a:xfrm>
            <a:off x="6437376" y="187452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/rewind</a:t>
            </a:r>
            <a:endParaRPr lang="en-US" sz="2400" dirty="0"/>
          </a:p>
        </p:txBody>
      </p:sp>
      <p:sp>
        <p:nvSpPr>
          <p:cNvPr id="12" name="Text 9"/>
          <p:cNvSpPr txBox="1"/>
          <p:nvPr/>
        </p:nvSpPr>
        <p:spPr>
          <a:xfrm>
            <a:off x="6437376" y="237744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Roll the conversation back to an earlier point</a:t>
            </a:r>
            <a:endParaRPr lang="en-US" sz="1600" dirty="0"/>
          </a:p>
        </p:txBody>
      </p:sp>
      <p:sp>
        <p:nvSpPr>
          <p:cNvPr id="13" name="Shape 10"/>
          <p:cNvSpPr/>
          <p:nvPr/>
        </p:nvSpPr>
        <p:spPr>
          <a:xfrm>
            <a:off x="9038844" y="169164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4" name="Text 11"/>
          <p:cNvSpPr txBox="1"/>
          <p:nvPr/>
        </p:nvSpPr>
        <p:spPr>
          <a:xfrm>
            <a:off x="9267444" y="187452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/memory</a:t>
            </a:r>
            <a:endParaRPr lang="en-US" sz="2400" dirty="0"/>
          </a:p>
        </p:txBody>
      </p:sp>
      <p:sp>
        <p:nvSpPr>
          <p:cNvPr id="15" name="Text 12"/>
          <p:cNvSpPr txBox="1"/>
          <p:nvPr/>
        </p:nvSpPr>
        <p:spPr>
          <a:xfrm>
            <a:off x="9267444" y="237744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View and edit what Claude remembers</a:t>
            </a:r>
            <a:endParaRPr lang="en-US" sz="1600" dirty="0"/>
          </a:p>
        </p:txBody>
      </p:sp>
      <p:sp>
        <p:nvSpPr>
          <p:cNvPr id="16" name="Shape 13"/>
          <p:cNvSpPr/>
          <p:nvPr/>
        </p:nvSpPr>
        <p:spPr>
          <a:xfrm>
            <a:off x="548640" y="406908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7" name="Text 14"/>
          <p:cNvSpPr txBox="1"/>
          <p:nvPr/>
        </p:nvSpPr>
        <p:spPr>
          <a:xfrm>
            <a:off x="777240" y="425196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/btw</a:t>
            </a:r>
            <a:endParaRPr lang="en-US" sz="2400" dirty="0"/>
          </a:p>
        </p:txBody>
      </p:sp>
      <p:sp>
        <p:nvSpPr>
          <p:cNvPr id="18" name="Text 15"/>
          <p:cNvSpPr txBox="1"/>
          <p:nvPr/>
        </p:nvSpPr>
        <p:spPr>
          <a:xfrm>
            <a:off x="777240" y="475488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Side question that doesn't clutter the chat</a:t>
            </a:r>
            <a:endParaRPr lang="en-US" sz="1600" dirty="0"/>
          </a:p>
        </p:txBody>
      </p:sp>
      <p:sp>
        <p:nvSpPr>
          <p:cNvPr id="19" name="Shape 16"/>
          <p:cNvSpPr/>
          <p:nvPr/>
        </p:nvSpPr>
        <p:spPr>
          <a:xfrm>
            <a:off x="3378708" y="406908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0" name="Text 17"/>
          <p:cNvSpPr txBox="1"/>
          <p:nvPr/>
        </p:nvSpPr>
        <p:spPr>
          <a:xfrm>
            <a:off x="3607308" y="425196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/rename</a:t>
            </a:r>
            <a:endParaRPr lang="en-US" sz="2400" dirty="0"/>
          </a:p>
        </p:txBody>
      </p:sp>
      <p:sp>
        <p:nvSpPr>
          <p:cNvPr id="21" name="Text 18"/>
          <p:cNvSpPr txBox="1"/>
          <p:nvPr/>
        </p:nvSpPr>
        <p:spPr>
          <a:xfrm>
            <a:off x="3607308" y="475488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Name a session so you can resume it later</a:t>
            </a:r>
            <a:endParaRPr lang="en-US" sz="1600" dirty="0"/>
          </a:p>
        </p:txBody>
      </p:sp>
      <p:sp>
        <p:nvSpPr>
          <p:cNvPr id="22" name="Shape 19"/>
          <p:cNvSpPr/>
          <p:nvPr/>
        </p:nvSpPr>
        <p:spPr>
          <a:xfrm>
            <a:off x="6208776" y="406908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3" name="Text 20"/>
          <p:cNvSpPr txBox="1"/>
          <p:nvPr/>
        </p:nvSpPr>
        <p:spPr>
          <a:xfrm>
            <a:off x="6437376" y="425196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/goal</a:t>
            </a:r>
            <a:endParaRPr lang="en-US" sz="2400" dirty="0"/>
          </a:p>
        </p:txBody>
      </p:sp>
      <p:sp>
        <p:nvSpPr>
          <p:cNvPr id="24" name="Text 21"/>
          <p:cNvSpPr txBox="1"/>
          <p:nvPr/>
        </p:nvSpPr>
        <p:spPr>
          <a:xfrm>
            <a:off x="6437376" y="475488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Set a goal Claude keeps working toward</a:t>
            </a:r>
            <a:endParaRPr lang="en-US" sz="1600" dirty="0"/>
          </a:p>
        </p:txBody>
      </p:sp>
      <p:sp>
        <p:nvSpPr>
          <p:cNvPr id="25" name="Text 22"/>
          <p:cNvSpPr txBox="1"/>
          <p:nvPr/>
        </p:nvSpPr>
        <p:spPr>
          <a:xfrm>
            <a:off x="9038844" y="4069080"/>
            <a:ext cx="2601468" cy="2148840"/>
          </a:xfrm>
          <a:prstGeom prst="rect">
            <a:avLst/>
          </a:prstGeom>
          <a:noFill/>
          <a:ln/>
        </p:spPr>
        <p:txBody>
          <a:bodyPr wrap="square" lIns="1270" tIns="1270" rIns="1270" bIns="1270" rtlCol="0" anchor="ctr"/>
          <a:lstStyle/>
          <a:p>
            <a:pPr marL="0" indent="0">
              <a:buNone/>
            </a:pPr>
            <a:r>
              <a:rPr lang="en-US" sz="1800" dirty="0">
                <a:solidFill>
                  <a:srgbClr val="5EEAD4"/>
                </a:solidFill>
                <a:latin typeface="Calibri" pitchFamily="34" charset="0"/>
                <a:ea typeface="Calibri" pitchFamily="34" charset="-122"/>
                <a:cs typeface="Calibri" pitchFamily="34" charset="-120"/>
              </a:rPr>
              <a:t>Works in the extension chat and in the CLI</a:t>
            </a:r>
            <a:endParaRPr lang="en-US" sz="18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Terminal flags: resume, fork, script, and run in parallel</a:t>
            </a:r>
            <a:endParaRPr lang="en-US" sz="3000" dirty="0"/>
          </a:p>
        </p:txBody>
      </p:sp>
      <p:sp>
        <p:nvSpPr>
          <p:cNvPr id="4" name="Shape 1"/>
          <p:cNvSpPr/>
          <p:nvPr/>
        </p:nvSpPr>
        <p:spPr>
          <a:xfrm>
            <a:off x="548640"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92024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-c</a:t>
            </a:r>
            <a:endParaRPr lang="en-US" sz="1600" dirty="0"/>
          </a:p>
        </p:txBody>
      </p:sp>
      <p:sp>
        <p:nvSpPr>
          <p:cNvPr id="6" name="Text 3"/>
          <p:cNvSpPr txBox="1"/>
          <p:nvPr/>
        </p:nvSpPr>
        <p:spPr>
          <a:xfrm>
            <a:off x="777240" y="278892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Continue the most recent conversation</a:t>
            </a:r>
            <a:endParaRPr lang="en-US" sz="1700" dirty="0"/>
          </a:p>
        </p:txBody>
      </p:sp>
      <p:sp>
        <p:nvSpPr>
          <p:cNvPr id="7" name="Shape 4"/>
          <p:cNvSpPr/>
          <p:nvPr/>
        </p:nvSpPr>
        <p:spPr>
          <a:xfrm>
            <a:off x="4337304"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8" name="Text 5"/>
          <p:cNvSpPr txBox="1"/>
          <p:nvPr/>
        </p:nvSpPr>
        <p:spPr>
          <a:xfrm>
            <a:off x="4565904" y="192024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--resume</a:t>
            </a:r>
            <a:endParaRPr lang="en-US" sz="1600" dirty="0"/>
          </a:p>
        </p:txBody>
      </p:sp>
      <p:sp>
        <p:nvSpPr>
          <p:cNvPr id="9" name="Text 6"/>
          <p:cNvSpPr txBox="1"/>
          <p:nvPr/>
        </p:nvSpPr>
        <p:spPr>
          <a:xfrm>
            <a:off x="4565904" y="278892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Pick an earlier session to resume</a:t>
            </a:r>
            <a:endParaRPr lang="en-US" sz="1700" dirty="0"/>
          </a:p>
        </p:txBody>
      </p:sp>
      <p:sp>
        <p:nvSpPr>
          <p:cNvPr id="10" name="Shape 7"/>
          <p:cNvSpPr/>
          <p:nvPr/>
        </p:nvSpPr>
        <p:spPr>
          <a:xfrm>
            <a:off x="8125968"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1" name="Text 8"/>
          <p:cNvSpPr txBox="1"/>
          <p:nvPr/>
        </p:nvSpPr>
        <p:spPr>
          <a:xfrm>
            <a:off x="8354568" y="192024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--fork-session</a:t>
            </a:r>
            <a:endParaRPr lang="en-US" sz="1600" dirty="0"/>
          </a:p>
        </p:txBody>
      </p:sp>
      <p:sp>
        <p:nvSpPr>
          <p:cNvPr id="12" name="Text 9"/>
          <p:cNvSpPr txBox="1"/>
          <p:nvPr/>
        </p:nvSpPr>
        <p:spPr>
          <a:xfrm>
            <a:off x="8354568" y="278892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Branch off a session, keep the original</a:t>
            </a:r>
            <a:endParaRPr lang="en-US" sz="1700" dirty="0"/>
          </a:p>
        </p:txBody>
      </p:sp>
      <p:sp>
        <p:nvSpPr>
          <p:cNvPr id="13" name="Shape 10"/>
          <p:cNvSpPr/>
          <p:nvPr/>
        </p:nvSpPr>
        <p:spPr>
          <a:xfrm>
            <a:off x="548640"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4" name="Text 11"/>
          <p:cNvSpPr txBox="1"/>
          <p:nvPr/>
        </p:nvSpPr>
        <p:spPr>
          <a:xfrm>
            <a:off x="777240" y="434340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-p "..."</a:t>
            </a:r>
            <a:endParaRPr lang="en-US" sz="1600" dirty="0"/>
          </a:p>
        </p:txBody>
      </p:sp>
      <p:sp>
        <p:nvSpPr>
          <p:cNvPr id="15" name="Text 12"/>
          <p:cNvSpPr txBox="1"/>
          <p:nvPr/>
        </p:nvSpPr>
        <p:spPr>
          <a:xfrm>
            <a:off x="777240" y="521208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One prompt, plain output, for scripts</a:t>
            </a:r>
            <a:endParaRPr lang="en-US" sz="1700" dirty="0"/>
          </a:p>
        </p:txBody>
      </p:sp>
      <p:sp>
        <p:nvSpPr>
          <p:cNvPr id="16" name="Shape 13"/>
          <p:cNvSpPr/>
          <p:nvPr/>
        </p:nvSpPr>
        <p:spPr>
          <a:xfrm>
            <a:off x="4337304"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7" name="Text 14"/>
          <p:cNvSpPr txBox="1"/>
          <p:nvPr/>
        </p:nvSpPr>
        <p:spPr>
          <a:xfrm>
            <a:off x="4565904" y="434340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--agent coordinator</a:t>
            </a:r>
            <a:endParaRPr lang="en-US" sz="1600" dirty="0"/>
          </a:p>
        </p:txBody>
      </p:sp>
      <p:sp>
        <p:nvSpPr>
          <p:cNvPr id="18" name="Text 15"/>
          <p:cNvSpPr txBox="1"/>
          <p:nvPr/>
        </p:nvSpPr>
        <p:spPr>
          <a:xfrm>
            <a:off x="4565904" y="521208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Run the whole session as that agent</a:t>
            </a:r>
            <a:endParaRPr lang="en-US" sz="1700" dirty="0"/>
          </a:p>
        </p:txBody>
      </p:sp>
      <p:sp>
        <p:nvSpPr>
          <p:cNvPr id="19" name="Shape 16"/>
          <p:cNvSpPr/>
          <p:nvPr/>
        </p:nvSpPr>
        <p:spPr>
          <a:xfrm>
            <a:off x="8125968"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0" name="Text 17"/>
          <p:cNvSpPr txBox="1"/>
          <p:nvPr/>
        </p:nvSpPr>
        <p:spPr>
          <a:xfrm>
            <a:off x="8354568" y="434340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--worktree add-billing</a:t>
            </a:r>
            <a:endParaRPr lang="en-US" sz="1600" dirty="0"/>
          </a:p>
        </p:txBody>
      </p:sp>
      <p:sp>
        <p:nvSpPr>
          <p:cNvPr id="21" name="Text 18"/>
          <p:cNvSpPr txBox="1"/>
          <p:nvPr/>
        </p:nvSpPr>
        <p:spPr>
          <a:xfrm>
            <a:off x="8354568" y="521208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Isolated git worktree for parallel work</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MCP</a:t>
            </a:r>
            <a:r>
              <a:rPr lang="en-US" sz="3000" b="1" dirty="0">
                <a:solidFill>
                  <a:srgbClr val="F2F6FC"/>
                </a:solidFill>
                <a:latin typeface="Calibri" pitchFamily="34" charset="0"/>
                <a:ea typeface="Calibri" pitchFamily="34" charset="-122"/>
                <a:cs typeface="Calibri" pitchFamily="34" charset="-120"/>
              </a:rPr>
              <a:t>: plug outside tools into Claude</a:t>
            </a:r>
            <a:endParaRPr lang="en-US" sz="3000" dirty="0"/>
          </a:p>
        </p:txBody>
      </p:sp>
      <p:sp>
        <p:nvSpPr>
          <p:cNvPr id="4" name="Shape 1"/>
          <p:cNvSpPr/>
          <p:nvPr/>
        </p:nvSpPr>
        <p:spPr>
          <a:xfrm>
            <a:off x="548640" y="1645920"/>
            <a:ext cx="5120640" cy="4480560"/>
          </a:xfrm>
          <a:prstGeom prst="roundRect">
            <a:avLst>
              <a:gd name="adj" fmla="val 2449"/>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828800"/>
            <a:ext cx="4663440"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What it is</a:t>
            </a:r>
            <a:endParaRPr lang="en-US" sz="2400" dirty="0"/>
          </a:p>
        </p:txBody>
      </p:sp>
      <p:sp>
        <p:nvSpPr>
          <p:cNvPr id="6" name="Text 3"/>
          <p:cNvSpPr txBox="1"/>
          <p:nvPr/>
        </p:nvSpPr>
        <p:spPr>
          <a:xfrm>
            <a:off x="777240" y="2331720"/>
            <a:ext cx="4663440" cy="365760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A standard way to </a:t>
            </a:r>
            <a:r>
              <a:rPr lang="en-US" sz="1800" dirty="0">
                <a:solidFill>
                  <a:schemeClr val="accent2"/>
                </a:solidFill>
                <a:latin typeface="Calibri" pitchFamily="34" charset="0"/>
                <a:ea typeface="Calibri" pitchFamily="34" charset="-122"/>
                <a:cs typeface="Calibri" pitchFamily="34" charset="-120"/>
              </a:rPr>
              <a:t>connect Claude to external tools and data</a:t>
            </a:r>
            <a:endParaRPr lang="en-US" sz="1800" dirty="0">
              <a:solidFill>
                <a:schemeClr val="accent2"/>
              </a:solidFill>
            </a:endParaRPr>
          </a:p>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Add it once, Claude can then use it in any chat</a:t>
            </a:r>
            <a:endParaRPr lang="en-US" sz="1800" dirty="0"/>
          </a:p>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In chat, /mcp shows connected servers</a:t>
            </a:r>
            <a:endParaRPr lang="en-US" sz="1800" dirty="0"/>
          </a:p>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Only add servers you trust</a:t>
            </a:r>
            <a:endParaRPr lang="en-US" sz="1800" dirty="0"/>
          </a:p>
        </p:txBody>
      </p:sp>
      <p:sp>
        <p:nvSpPr>
          <p:cNvPr id="7" name="Shape 4"/>
          <p:cNvSpPr/>
          <p:nvPr/>
        </p:nvSpPr>
        <p:spPr>
          <a:xfrm>
            <a:off x="5943600" y="1645920"/>
            <a:ext cx="5696712" cy="2743200"/>
          </a:xfrm>
          <a:prstGeom prst="roundRect">
            <a:avLst>
              <a:gd name="adj" fmla="val 3333"/>
            </a:avLst>
          </a:prstGeom>
          <a:solidFill>
            <a:srgbClr val="081628"/>
          </a:solidFill>
          <a:ln w="12700">
            <a:solidFill>
              <a:srgbClr val="1E3F6F"/>
            </a:solidFill>
            <a:prstDash val="solid"/>
          </a:ln>
        </p:spPr>
        <p:txBody>
          <a:bodyPr/>
          <a:lstStyle/>
          <a:p>
            <a:endParaRPr lang="en-US"/>
          </a:p>
        </p:txBody>
      </p:sp>
      <p:sp>
        <p:nvSpPr>
          <p:cNvPr id="8" name="Text 5"/>
          <p:cNvSpPr txBox="1"/>
          <p:nvPr/>
        </p:nvSpPr>
        <p:spPr>
          <a:xfrm>
            <a:off x="6172200" y="1783080"/>
            <a:ext cx="5239512" cy="2468880"/>
          </a:xfrm>
          <a:prstGeom prst="rect">
            <a:avLst/>
          </a:prstGeom>
          <a:noFill/>
          <a:ln/>
        </p:spPr>
        <p:txBody>
          <a:bodyPr wrap="square" lIns="0" tIns="0" rIns="0" bIns="0" rtlCol="0" anchor="t"/>
          <a:lstStyle/>
          <a:p>
            <a:pPr marL="0" indent="0">
              <a:buNone/>
            </a:pPr>
            <a:r>
              <a:rPr lang="en-US" sz="1400" dirty="0">
                <a:solidFill>
                  <a:srgbClr val="F2F6FC"/>
                </a:solidFill>
                <a:latin typeface="Courier New" pitchFamily="34" charset="0"/>
                <a:ea typeface="Courier New" pitchFamily="34" charset="-122"/>
                <a:cs typeface="Courier New" pitchFamily="34" charset="-120"/>
              </a:rPr>
              <a:t># list configured servers</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claude mcp list</a:t>
            </a:r>
            <a:endParaRPr lang="en-US" sz="1400" dirty="0"/>
          </a:p>
          <a:p>
            <a:pPr marL="0" indent="0">
              <a:buNone/>
            </a:pP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add a remote (HTTP) server</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claude mcp add --transport http &lt;name&gt; &lt;url&gt;</a:t>
            </a:r>
            <a:endParaRPr lang="en-US" sz="1400" dirty="0"/>
          </a:p>
        </p:txBody>
      </p:sp>
      <p:sp>
        <p:nvSpPr>
          <p:cNvPr id="9" name="Text 6"/>
          <p:cNvSpPr txBox="1"/>
          <p:nvPr/>
        </p:nvSpPr>
        <p:spPr>
          <a:xfrm>
            <a:off x="5943600" y="4572000"/>
            <a:ext cx="5696712" cy="731520"/>
          </a:xfrm>
          <a:prstGeom prst="rect">
            <a:avLst/>
          </a:prstGeom>
          <a:noFill/>
          <a:ln/>
        </p:spPr>
        <p:txBody>
          <a:bodyPr wrap="square" lIns="0" tIns="0" rIns="0" bIns="0" rtlCol="0" anchor="t"/>
          <a:lstStyle/>
          <a:p>
            <a:pPr marL="0" indent="0">
              <a:buNone/>
            </a:pPr>
            <a:r>
              <a:rPr lang="en-US" sz="1700" dirty="0">
                <a:solidFill>
                  <a:srgbClr val="5EEAD4"/>
                </a:solidFill>
                <a:latin typeface="Calibri" pitchFamily="34" charset="0"/>
                <a:ea typeface="Calibri" pitchFamily="34" charset="-122"/>
                <a:cs typeface="Calibri" pitchFamily="34" charset="-120"/>
              </a:rPr>
              <a:t>Add --scope user to make it available in all projects</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Check and ship with the </a:t>
            </a:r>
            <a:r>
              <a:rPr lang="en-US" sz="3000" b="1" dirty="0">
                <a:solidFill>
                  <a:schemeClr val="accent2"/>
                </a:solidFill>
                <a:latin typeface="Calibri" pitchFamily="34" charset="0"/>
                <a:ea typeface="Calibri" pitchFamily="34" charset="-122"/>
                <a:cs typeface="Calibri" pitchFamily="34" charset="-120"/>
              </a:rPr>
              <a:t>built-in commands</a:t>
            </a:r>
            <a:endParaRPr lang="en-US" sz="3000" dirty="0">
              <a:solidFill>
                <a:schemeClr val="accent2"/>
              </a:solidFill>
            </a:endParaRPr>
          </a:p>
        </p:txBody>
      </p:sp>
      <p:sp>
        <p:nvSpPr>
          <p:cNvPr id="4" name="Shape 1"/>
          <p:cNvSpPr/>
          <p:nvPr/>
        </p:nvSpPr>
        <p:spPr>
          <a:xfrm>
            <a:off x="548640"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87452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/run</a:t>
            </a:r>
            <a:endParaRPr lang="en-US" sz="2200" dirty="0"/>
          </a:p>
        </p:txBody>
      </p:sp>
      <p:sp>
        <p:nvSpPr>
          <p:cNvPr id="6" name="Text 3"/>
          <p:cNvSpPr txBox="1"/>
          <p:nvPr/>
        </p:nvSpPr>
        <p:spPr>
          <a:xfrm>
            <a:off x="777240" y="237744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Launch the app and see the change working</a:t>
            </a:r>
            <a:endParaRPr lang="en-US" sz="1700" dirty="0"/>
          </a:p>
        </p:txBody>
      </p:sp>
      <p:sp>
        <p:nvSpPr>
          <p:cNvPr id="7" name="Shape 4"/>
          <p:cNvSpPr/>
          <p:nvPr/>
        </p:nvSpPr>
        <p:spPr>
          <a:xfrm>
            <a:off x="4337304"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8" name="Text 5"/>
          <p:cNvSpPr txBox="1"/>
          <p:nvPr/>
        </p:nvSpPr>
        <p:spPr>
          <a:xfrm>
            <a:off x="4565904" y="187452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/verify</a:t>
            </a:r>
            <a:endParaRPr lang="en-US" sz="2200" dirty="0"/>
          </a:p>
        </p:txBody>
      </p:sp>
      <p:sp>
        <p:nvSpPr>
          <p:cNvPr id="9" name="Text 6"/>
          <p:cNvSpPr txBox="1"/>
          <p:nvPr/>
        </p:nvSpPr>
        <p:spPr>
          <a:xfrm>
            <a:off x="4565904" y="237744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Check that the work actually does what was asked</a:t>
            </a:r>
            <a:endParaRPr lang="en-US" sz="1700" dirty="0"/>
          </a:p>
        </p:txBody>
      </p:sp>
      <p:sp>
        <p:nvSpPr>
          <p:cNvPr id="10" name="Shape 7"/>
          <p:cNvSpPr/>
          <p:nvPr/>
        </p:nvSpPr>
        <p:spPr>
          <a:xfrm>
            <a:off x="8125968"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1" name="Text 8"/>
          <p:cNvSpPr txBox="1"/>
          <p:nvPr/>
        </p:nvSpPr>
        <p:spPr>
          <a:xfrm>
            <a:off x="8354568" y="187452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/code-review</a:t>
            </a:r>
            <a:endParaRPr lang="en-US" sz="2200" dirty="0"/>
          </a:p>
        </p:txBody>
      </p:sp>
      <p:sp>
        <p:nvSpPr>
          <p:cNvPr id="12" name="Text 9"/>
          <p:cNvSpPr txBox="1"/>
          <p:nvPr/>
        </p:nvSpPr>
        <p:spPr>
          <a:xfrm>
            <a:off x="8354568" y="237744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Review the diff for bugs; "ultra" runs a deep cloud review</a:t>
            </a:r>
            <a:endParaRPr lang="en-US" sz="1700" dirty="0"/>
          </a:p>
        </p:txBody>
      </p:sp>
      <p:sp>
        <p:nvSpPr>
          <p:cNvPr id="13" name="Shape 10"/>
          <p:cNvSpPr/>
          <p:nvPr/>
        </p:nvSpPr>
        <p:spPr>
          <a:xfrm>
            <a:off x="548640"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4" name="Text 11"/>
          <p:cNvSpPr txBox="1"/>
          <p:nvPr/>
        </p:nvSpPr>
        <p:spPr>
          <a:xfrm>
            <a:off x="777240" y="429768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/security-review</a:t>
            </a:r>
            <a:endParaRPr lang="en-US" sz="2200" dirty="0"/>
          </a:p>
        </p:txBody>
      </p:sp>
      <p:sp>
        <p:nvSpPr>
          <p:cNvPr id="15" name="Text 12"/>
          <p:cNvSpPr txBox="1"/>
          <p:nvPr/>
        </p:nvSpPr>
        <p:spPr>
          <a:xfrm>
            <a:off x="777240" y="480060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Security check of the pending changes</a:t>
            </a:r>
            <a:endParaRPr lang="en-US" sz="1700" dirty="0"/>
          </a:p>
        </p:txBody>
      </p:sp>
      <p:sp>
        <p:nvSpPr>
          <p:cNvPr id="16" name="Shape 13"/>
          <p:cNvSpPr/>
          <p:nvPr/>
        </p:nvSpPr>
        <p:spPr>
          <a:xfrm>
            <a:off x="4337304"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7" name="Text 14"/>
          <p:cNvSpPr txBox="1"/>
          <p:nvPr/>
        </p:nvSpPr>
        <p:spPr>
          <a:xfrm>
            <a:off x="4565904" y="429768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/simplify</a:t>
            </a:r>
            <a:endParaRPr lang="en-US" sz="2200" dirty="0"/>
          </a:p>
        </p:txBody>
      </p:sp>
      <p:sp>
        <p:nvSpPr>
          <p:cNvPr id="18" name="Text 15"/>
          <p:cNvSpPr txBox="1"/>
          <p:nvPr/>
        </p:nvSpPr>
        <p:spPr>
          <a:xfrm>
            <a:off x="4565904" y="480060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Clean up changed code for reuse and clarity</a:t>
            </a:r>
            <a:endParaRPr lang="en-US" sz="1700" dirty="0"/>
          </a:p>
        </p:txBody>
      </p:sp>
      <p:sp>
        <p:nvSpPr>
          <p:cNvPr id="19" name="Shape 16"/>
          <p:cNvSpPr/>
          <p:nvPr/>
        </p:nvSpPr>
        <p:spPr>
          <a:xfrm>
            <a:off x="8125968"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0" name="Text 17"/>
          <p:cNvSpPr txBox="1"/>
          <p:nvPr/>
        </p:nvSpPr>
        <p:spPr>
          <a:xfrm>
            <a:off x="8354568" y="429768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/install-github-app</a:t>
            </a:r>
            <a:endParaRPr lang="en-US" sz="2200" dirty="0"/>
          </a:p>
        </p:txBody>
      </p:sp>
      <p:sp>
        <p:nvSpPr>
          <p:cNvPr id="21" name="Text 18"/>
          <p:cNvSpPr txBox="1"/>
          <p:nvPr/>
        </p:nvSpPr>
        <p:spPr>
          <a:xfrm>
            <a:off x="8354568" y="480060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Connect Claude to your GitHub repo and PRs</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Take it with you, and keep learning inside the tool</a:t>
            </a:r>
            <a:endParaRPr lang="en-US" sz="3000" dirty="0"/>
          </a:p>
        </p:txBody>
      </p:sp>
      <p:sp>
        <p:nvSpPr>
          <p:cNvPr id="4" name="Shape 1"/>
          <p:cNvSpPr/>
          <p:nvPr/>
        </p:nvSpPr>
        <p:spPr>
          <a:xfrm>
            <a:off x="548640" y="1737360"/>
            <a:ext cx="5362956" cy="3931920"/>
          </a:xfrm>
          <a:prstGeom prst="roundRect">
            <a:avLst>
              <a:gd name="adj" fmla="val 2791"/>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920240"/>
            <a:ext cx="4905756"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Anywhere</a:t>
            </a:r>
            <a:endParaRPr lang="en-US" sz="1600" dirty="0"/>
          </a:p>
        </p:txBody>
      </p:sp>
      <p:sp>
        <p:nvSpPr>
          <p:cNvPr id="6" name="Text 3"/>
          <p:cNvSpPr txBox="1"/>
          <p:nvPr/>
        </p:nvSpPr>
        <p:spPr>
          <a:xfrm>
            <a:off x="777240" y="2304288"/>
            <a:ext cx="4905756" cy="411480"/>
          </a:xfrm>
          <a:prstGeom prst="rect">
            <a:avLst/>
          </a:prstGeom>
          <a:noFill/>
          <a:ln/>
        </p:spPr>
        <p:txBody>
          <a:bodyPr wrap="square" lIns="0" tIns="0" rIns="0" bIns="0" rtlCol="0" anchor="t"/>
          <a:lstStyle/>
          <a:p>
            <a:pPr marL="0" indent="0">
              <a:buNone/>
            </a:pPr>
            <a:r>
              <a:rPr lang="en-US" sz="3000" b="1" dirty="0">
                <a:solidFill>
                  <a:schemeClr val="accent2"/>
                </a:solidFill>
                <a:latin typeface="Calibri" pitchFamily="34" charset="0"/>
                <a:ea typeface="Calibri" pitchFamily="34" charset="-122"/>
                <a:cs typeface="Calibri" pitchFamily="34" charset="-120"/>
              </a:rPr>
              <a:t>/remote-control</a:t>
            </a:r>
            <a:endParaRPr lang="en-US" sz="3000" dirty="0">
              <a:solidFill>
                <a:schemeClr val="accent2"/>
              </a:solidFill>
            </a:endParaRPr>
          </a:p>
        </p:txBody>
      </p:sp>
      <p:sp>
        <p:nvSpPr>
          <p:cNvPr id="7" name="Text 4"/>
          <p:cNvSpPr txBox="1"/>
          <p:nvPr/>
        </p:nvSpPr>
        <p:spPr>
          <a:xfrm>
            <a:off x="777240" y="2807208"/>
            <a:ext cx="4905756" cy="2724912"/>
          </a:xfrm>
          <a:prstGeom prst="rect">
            <a:avLst/>
          </a:prstGeom>
          <a:noFill/>
          <a:ln/>
        </p:spPr>
        <p:txBody>
          <a:bodyPr wrap="square" lIns="0" tIns="0" rIns="0" bIns="0" rtlCol="0" anchor="t"/>
          <a:lstStyle/>
          <a:p>
            <a:pPr marL="0" indent="0">
              <a:buNone/>
            </a:pPr>
            <a:r>
              <a:rPr lang="en-US" sz="2000" dirty="0">
                <a:solidFill>
                  <a:srgbClr val="A9BCD6"/>
                </a:solidFill>
                <a:latin typeface="Calibri" pitchFamily="34" charset="0"/>
                <a:ea typeface="Calibri" pitchFamily="34" charset="-122"/>
                <a:cs typeface="Calibri" pitchFamily="34" charset="-120"/>
              </a:rPr>
              <a:t>Continue a running session from another device. Start a long task, </a:t>
            </a:r>
            <a:r>
              <a:rPr lang="en-US" sz="2000" dirty="0">
                <a:solidFill>
                  <a:schemeClr val="accent2"/>
                </a:solidFill>
                <a:latin typeface="Calibri" pitchFamily="34" charset="0"/>
                <a:ea typeface="Calibri" pitchFamily="34" charset="-122"/>
                <a:cs typeface="Calibri" pitchFamily="34" charset="-120"/>
              </a:rPr>
              <a:t>then check on it from your phone.</a:t>
            </a:r>
            <a:endParaRPr lang="en-US" sz="2000" dirty="0">
              <a:solidFill>
                <a:schemeClr val="accent2"/>
              </a:solidFill>
            </a:endParaRPr>
          </a:p>
        </p:txBody>
      </p:sp>
      <p:sp>
        <p:nvSpPr>
          <p:cNvPr id="8" name="Shape 5"/>
          <p:cNvSpPr/>
          <p:nvPr/>
        </p:nvSpPr>
        <p:spPr>
          <a:xfrm>
            <a:off x="6277356" y="1737360"/>
            <a:ext cx="5362956" cy="3931920"/>
          </a:xfrm>
          <a:prstGeom prst="roundRect">
            <a:avLst>
              <a:gd name="adj" fmla="val 2791"/>
            </a:avLst>
          </a:prstGeom>
          <a:solidFill>
            <a:srgbClr val="12305A"/>
          </a:solidFill>
          <a:ln w="12700">
            <a:solidFill>
              <a:srgbClr val="12305A"/>
            </a:solidFill>
            <a:prstDash val="solid"/>
          </a:ln>
        </p:spPr>
        <p:txBody>
          <a:bodyPr/>
          <a:lstStyle/>
          <a:p>
            <a:endParaRPr lang="en-US"/>
          </a:p>
        </p:txBody>
      </p:sp>
      <p:sp>
        <p:nvSpPr>
          <p:cNvPr id="9" name="Text 6"/>
          <p:cNvSpPr txBox="1"/>
          <p:nvPr/>
        </p:nvSpPr>
        <p:spPr>
          <a:xfrm>
            <a:off x="6505956" y="1920240"/>
            <a:ext cx="4905756"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Learn</a:t>
            </a:r>
            <a:endParaRPr lang="en-US" sz="1600" dirty="0"/>
          </a:p>
        </p:txBody>
      </p:sp>
      <p:sp>
        <p:nvSpPr>
          <p:cNvPr id="10" name="Text 7"/>
          <p:cNvSpPr txBox="1"/>
          <p:nvPr/>
        </p:nvSpPr>
        <p:spPr>
          <a:xfrm>
            <a:off x="6505956" y="2304288"/>
            <a:ext cx="4905756" cy="411480"/>
          </a:xfrm>
          <a:prstGeom prst="rect">
            <a:avLst/>
          </a:prstGeom>
          <a:noFill/>
          <a:ln/>
        </p:spPr>
        <p:txBody>
          <a:bodyPr wrap="square" lIns="0" tIns="0" rIns="0" bIns="0" rtlCol="0" anchor="t"/>
          <a:lstStyle/>
          <a:p>
            <a:pPr marL="0" indent="0">
              <a:buNone/>
            </a:pPr>
            <a:r>
              <a:rPr lang="en-US" sz="3000" b="1" dirty="0">
                <a:solidFill>
                  <a:srgbClr val="F2F6FC"/>
                </a:solidFill>
                <a:latin typeface="Calibri" pitchFamily="34" charset="0"/>
                <a:ea typeface="Calibri" pitchFamily="34" charset="-122"/>
                <a:cs typeface="Calibri" pitchFamily="34" charset="-120"/>
              </a:rPr>
              <a:t>/powerup</a:t>
            </a:r>
            <a:endParaRPr lang="en-US" sz="3000" dirty="0"/>
          </a:p>
        </p:txBody>
      </p:sp>
      <p:sp>
        <p:nvSpPr>
          <p:cNvPr id="11" name="Text 8"/>
          <p:cNvSpPr txBox="1"/>
          <p:nvPr/>
        </p:nvSpPr>
        <p:spPr>
          <a:xfrm>
            <a:off x="6505956" y="2807208"/>
            <a:ext cx="4905756" cy="2724912"/>
          </a:xfrm>
          <a:prstGeom prst="rect">
            <a:avLst/>
          </a:prstGeom>
          <a:noFill/>
          <a:ln/>
        </p:spPr>
        <p:txBody>
          <a:bodyPr wrap="square" lIns="0" tIns="0" rIns="0" bIns="0" rtlCol="0" anchor="t"/>
          <a:lstStyle/>
          <a:p>
            <a:pPr marL="0" indent="0">
              <a:buNone/>
            </a:pPr>
            <a:r>
              <a:rPr lang="en-US" sz="2000" dirty="0">
                <a:solidFill>
                  <a:srgbClr val="A9BCD6"/>
                </a:solidFill>
                <a:latin typeface="Calibri" pitchFamily="34" charset="0"/>
                <a:ea typeface="Calibri" pitchFamily="34" charset="-122"/>
                <a:cs typeface="Calibri" pitchFamily="34" charset="-120"/>
              </a:rPr>
              <a:t>Interactive in-product lessons for features you haven't tried yet. A good way to find new tricks.</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Eight habits to take home</a:t>
            </a:r>
            <a:endParaRPr lang="en-US" sz="3000" dirty="0"/>
          </a:p>
        </p:txBody>
      </p:sp>
      <p:sp>
        <p:nvSpPr>
          <p:cNvPr id="4" name="Shape 1"/>
          <p:cNvSpPr/>
          <p:nvPr/>
        </p:nvSpPr>
        <p:spPr>
          <a:xfrm>
            <a:off x="548640" y="169164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87452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1</a:t>
            </a:r>
            <a:endParaRPr lang="en-US" sz="1600" dirty="0"/>
          </a:p>
        </p:txBody>
      </p:sp>
      <p:sp>
        <p:nvSpPr>
          <p:cNvPr id="6" name="Text 3"/>
          <p:cNvSpPr txBox="1"/>
          <p:nvPr/>
        </p:nvSpPr>
        <p:spPr>
          <a:xfrm>
            <a:off x="777240" y="225856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Open a folder</a:t>
            </a:r>
            <a:endParaRPr lang="en-US" sz="1900" dirty="0"/>
          </a:p>
        </p:txBody>
      </p:sp>
      <p:sp>
        <p:nvSpPr>
          <p:cNvPr id="7" name="Text 4"/>
          <p:cNvSpPr txBox="1"/>
          <p:nvPr/>
        </p:nvSpPr>
        <p:spPr>
          <a:xfrm>
            <a:off x="777240" y="276148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File &gt; Open Folder..., then start Claude</a:t>
            </a:r>
            <a:endParaRPr lang="en-US" sz="1600" dirty="0"/>
          </a:p>
        </p:txBody>
      </p:sp>
      <p:sp>
        <p:nvSpPr>
          <p:cNvPr id="8" name="Shape 5"/>
          <p:cNvSpPr/>
          <p:nvPr/>
        </p:nvSpPr>
        <p:spPr>
          <a:xfrm>
            <a:off x="3378708" y="169164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9" name="Text 6"/>
          <p:cNvSpPr txBox="1"/>
          <p:nvPr/>
        </p:nvSpPr>
        <p:spPr>
          <a:xfrm>
            <a:off x="3607308" y="187452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2</a:t>
            </a:r>
            <a:endParaRPr lang="en-US" sz="1600" dirty="0"/>
          </a:p>
        </p:txBody>
      </p:sp>
      <p:sp>
        <p:nvSpPr>
          <p:cNvPr id="10" name="Text 7"/>
          <p:cNvSpPr txBox="1"/>
          <p:nvPr/>
        </p:nvSpPr>
        <p:spPr>
          <a:xfrm>
            <a:off x="3607308" y="225856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CLAUDE.md</a:t>
            </a:r>
            <a:endParaRPr lang="en-US" sz="1900" dirty="0"/>
          </a:p>
        </p:txBody>
      </p:sp>
      <p:sp>
        <p:nvSpPr>
          <p:cNvPr id="11" name="Text 8"/>
          <p:cNvSpPr txBox="1"/>
          <p:nvPr/>
        </p:nvSpPr>
        <p:spPr>
          <a:xfrm>
            <a:off x="3607308" y="276148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Ask Claude to write it</a:t>
            </a:r>
            <a:endParaRPr lang="en-US" sz="1600" dirty="0"/>
          </a:p>
        </p:txBody>
      </p:sp>
      <p:sp>
        <p:nvSpPr>
          <p:cNvPr id="12" name="Shape 9"/>
          <p:cNvSpPr/>
          <p:nvPr/>
        </p:nvSpPr>
        <p:spPr>
          <a:xfrm>
            <a:off x="6208776" y="169164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13" name="Text 10"/>
          <p:cNvSpPr txBox="1"/>
          <p:nvPr/>
        </p:nvSpPr>
        <p:spPr>
          <a:xfrm>
            <a:off x="6437376" y="187452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3</a:t>
            </a:r>
            <a:endParaRPr lang="en-US" sz="1600" dirty="0"/>
          </a:p>
        </p:txBody>
      </p:sp>
      <p:sp>
        <p:nvSpPr>
          <p:cNvPr id="14" name="Text 11"/>
          <p:cNvSpPr txBox="1"/>
          <p:nvPr/>
        </p:nvSpPr>
        <p:spPr>
          <a:xfrm>
            <a:off x="6437376" y="225856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Plan before code</a:t>
            </a:r>
            <a:endParaRPr lang="en-US" sz="1900" dirty="0"/>
          </a:p>
        </p:txBody>
      </p:sp>
      <p:sp>
        <p:nvSpPr>
          <p:cNvPr id="15" name="Text 12"/>
          <p:cNvSpPr txBox="1"/>
          <p:nvPr/>
        </p:nvSpPr>
        <p:spPr>
          <a:xfrm>
            <a:off x="6437376" y="276148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Plans, tests, exit gates</a:t>
            </a:r>
            <a:endParaRPr lang="en-US" sz="1600" dirty="0"/>
          </a:p>
        </p:txBody>
      </p:sp>
      <p:sp>
        <p:nvSpPr>
          <p:cNvPr id="16" name="Shape 13"/>
          <p:cNvSpPr/>
          <p:nvPr/>
        </p:nvSpPr>
        <p:spPr>
          <a:xfrm>
            <a:off x="9038844" y="169164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17" name="Text 14"/>
          <p:cNvSpPr txBox="1"/>
          <p:nvPr/>
        </p:nvSpPr>
        <p:spPr>
          <a:xfrm>
            <a:off x="9267444" y="187452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4</a:t>
            </a:r>
            <a:endParaRPr lang="en-US" sz="1600" dirty="0"/>
          </a:p>
        </p:txBody>
      </p:sp>
      <p:sp>
        <p:nvSpPr>
          <p:cNvPr id="18" name="Text 15"/>
          <p:cNvSpPr txBox="1"/>
          <p:nvPr/>
        </p:nvSpPr>
        <p:spPr>
          <a:xfrm>
            <a:off x="9267444" y="225856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Phases</a:t>
            </a:r>
            <a:endParaRPr lang="en-US" sz="1900" dirty="0"/>
          </a:p>
        </p:txBody>
      </p:sp>
      <p:sp>
        <p:nvSpPr>
          <p:cNvPr id="19" name="Text 16"/>
          <p:cNvSpPr txBox="1"/>
          <p:nvPr/>
        </p:nvSpPr>
        <p:spPr>
          <a:xfrm>
            <a:off x="9267444" y="276148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Say "next phase"</a:t>
            </a:r>
            <a:endParaRPr lang="en-US" sz="1600" dirty="0"/>
          </a:p>
        </p:txBody>
      </p:sp>
      <p:sp>
        <p:nvSpPr>
          <p:cNvPr id="20" name="Shape 17"/>
          <p:cNvSpPr/>
          <p:nvPr/>
        </p:nvSpPr>
        <p:spPr>
          <a:xfrm>
            <a:off x="548640" y="406908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21" name="Text 18"/>
          <p:cNvSpPr txBox="1"/>
          <p:nvPr/>
        </p:nvSpPr>
        <p:spPr>
          <a:xfrm>
            <a:off x="777240" y="425196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5</a:t>
            </a:r>
            <a:endParaRPr lang="en-US" sz="1600" dirty="0"/>
          </a:p>
        </p:txBody>
      </p:sp>
      <p:sp>
        <p:nvSpPr>
          <p:cNvPr id="22" name="Text 19"/>
          <p:cNvSpPr txBox="1"/>
          <p:nvPr/>
        </p:nvSpPr>
        <p:spPr>
          <a:xfrm>
            <a:off x="777240" y="463600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Keep context lean</a:t>
            </a:r>
            <a:endParaRPr lang="en-US" sz="1900" dirty="0"/>
          </a:p>
        </p:txBody>
      </p:sp>
      <p:sp>
        <p:nvSpPr>
          <p:cNvPr id="23" name="Text 20"/>
          <p:cNvSpPr txBox="1"/>
          <p:nvPr/>
        </p:nvSpPr>
        <p:spPr>
          <a:xfrm>
            <a:off x="777240" y="513892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/clear, /context, /rewind</a:t>
            </a:r>
            <a:endParaRPr lang="en-US" sz="1600" dirty="0"/>
          </a:p>
        </p:txBody>
      </p:sp>
      <p:sp>
        <p:nvSpPr>
          <p:cNvPr id="24" name="Shape 21"/>
          <p:cNvSpPr/>
          <p:nvPr/>
        </p:nvSpPr>
        <p:spPr>
          <a:xfrm>
            <a:off x="3378708" y="406908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25" name="Text 22"/>
          <p:cNvSpPr txBox="1"/>
          <p:nvPr/>
        </p:nvSpPr>
        <p:spPr>
          <a:xfrm>
            <a:off x="3607308" y="425196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6</a:t>
            </a:r>
            <a:endParaRPr lang="en-US" sz="1600" dirty="0"/>
          </a:p>
        </p:txBody>
      </p:sp>
      <p:sp>
        <p:nvSpPr>
          <p:cNvPr id="26" name="Text 23"/>
          <p:cNvSpPr txBox="1"/>
          <p:nvPr/>
        </p:nvSpPr>
        <p:spPr>
          <a:xfrm>
            <a:off x="3607308" y="463600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Config via Claude</a:t>
            </a:r>
            <a:endParaRPr lang="en-US" sz="1900" dirty="0"/>
          </a:p>
        </p:txBody>
      </p:sp>
      <p:sp>
        <p:nvSpPr>
          <p:cNvPr id="27" name="Text 24"/>
          <p:cNvSpPr txBox="1"/>
          <p:nvPr/>
        </p:nvSpPr>
        <p:spPr>
          <a:xfrm>
            <a:off x="3607308" y="513892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Skills, agents, hooks</a:t>
            </a:r>
            <a:endParaRPr lang="en-US" sz="1600" dirty="0"/>
          </a:p>
        </p:txBody>
      </p:sp>
      <p:sp>
        <p:nvSpPr>
          <p:cNvPr id="28" name="Shape 25"/>
          <p:cNvSpPr/>
          <p:nvPr/>
        </p:nvSpPr>
        <p:spPr>
          <a:xfrm>
            <a:off x="6208776" y="406908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29" name="Text 26"/>
          <p:cNvSpPr txBox="1"/>
          <p:nvPr/>
        </p:nvSpPr>
        <p:spPr>
          <a:xfrm>
            <a:off x="6437376" y="425196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7</a:t>
            </a:r>
            <a:endParaRPr lang="en-US" sz="1600" dirty="0"/>
          </a:p>
        </p:txBody>
      </p:sp>
      <p:sp>
        <p:nvSpPr>
          <p:cNvPr id="30" name="Text 27"/>
          <p:cNvSpPr txBox="1"/>
          <p:nvPr/>
        </p:nvSpPr>
        <p:spPr>
          <a:xfrm>
            <a:off x="6437376" y="463600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Review</a:t>
            </a:r>
            <a:endParaRPr lang="en-US" sz="1900" dirty="0"/>
          </a:p>
        </p:txBody>
      </p:sp>
      <p:sp>
        <p:nvSpPr>
          <p:cNvPr id="31" name="Text 28"/>
          <p:cNvSpPr txBox="1"/>
          <p:nvPr/>
        </p:nvSpPr>
        <p:spPr>
          <a:xfrm>
            <a:off x="6437376" y="513892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/code-review, /security-review</a:t>
            </a:r>
            <a:endParaRPr lang="en-US" sz="1600" dirty="0"/>
          </a:p>
        </p:txBody>
      </p:sp>
      <p:sp>
        <p:nvSpPr>
          <p:cNvPr id="32" name="Shape 29"/>
          <p:cNvSpPr/>
          <p:nvPr/>
        </p:nvSpPr>
        <p:spPr>
          <a:xfrm>
            <a:off x="9038844" y="406908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33" name="Text 30"/>
          <p:cNvSpPr txBox="1"/>
          <p:nvPr/>
        </p:nvSpPr>
        <p:spPr>
          <a:xfrm>
            <a:off x="9267444" y="425196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8</a:t>
            </a:r>
            <a:endParaRPr lang="en-US" sz="1600" dirty="0"/>
          </a:p>
        </p:txBody>
      </p:sp>
      <p:sp>
        <p:nvSpPr>
          <p:cNvPr id="34" name="Text 31"/>
          <p:cNvSpPr txBox="1"/>
          <p:nvPr/>
        </p:nvSpPr>
        <p:spPr>
          <a:xfrm>
            <a:off x="9267444" y="463600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Parallelize</a:t>
            </a:r>
            <a:endParaRPr lang="en-US" sz="1900" dirty="0"/>
          </a:p>
        </p:txBody>
      </p:sp>
      <p:sp>
        <p:nvSpPr>
          <p:cNvPr id="35" name="Text 32"/>
          <p:cNvSpPr txBox="1"/>
          <p:nvPr/>
        </p:nvSpPr>
        <p:spPr>
          <a:xfrm>
            <a:off x="9267444" y="513892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--worktree, agents</a:t>
            </a:r>
            <a:endParaRPr lang="en-US" sz="16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660</TotalTime>
  <Words>2886</Words>
  <Application>Microsoft Office PowerPoint</Application>
  <PresentationFormat>Widescreen</PresentationFormat>
  <Paragraphs>400</Paragraphs>
  <Slides>24</Slides>
  <Notes>24</Notes>
  <HiddenSlides>0</HiddenSlides>
  <MMClips>0</MMClips>
  <ScaleCrop>false</ScaleCrop>
  <HeadingPairs>
    <vt:vector size="6" baseType="variant">
      <vt:variant>
        <vt:lpstr>Fontes usadas</vt:lpstr>
      </vt:variant>
      <vt:variant>
        <vt:i4>3</vt:i4>
      </vt:variant>
      <vt:variant>
        <vt:lpstr>Tema</vt:lpstr>
      </vt:variant>
      <vt:variant>
        <vt:i4>1</vt:i4>
      </vt:variant>
      <vt:variant>
        <vt:lpstr>Títulos de slides</vt:lpstr>
      </vt:variant>
      <vt:variant>
        <vt:i4>24</vt:i4>
      </vt:variant>
    </vt:vector>
  </HeadingPairs>
  <TitlesOfParts>
    <vt:vector size="28" baseType="lpstr">
      <vt:lpstr>Arial</vt:lpstr>
      <vt:lpstr>Calibri</vt:lpstr>
      <vt:lpstr>Courier New</vt:lpstr>
      <vt:lpstr>Office Theme</vt:lpstr>
      <vt:lpstr>Apresentação do PowerPoint</vt:lpstr>
      <vt:lpstr>Four blocks: start, configure, plan, then drive daily</vt:lpstr>
      <vt:lpstr>Apresentação do PowerPoint</vt:lpstr>
      <vt:lpstr>Claude works through tools: read, search, edit, run</vt:lpstr>
      <vt:lpstr>Two front doors, same Claude: extension and CLI</vt:lpstr>
      <vt:lpstr>Start in VS Code: open a folder, open the Claude panel</vt:lpstr>
      <vt:lpstr>Start the CLI: one word in any terminal</vt:lpstr>
      <vt:lpstr>Apresentação do PowerPoint</vt:lpstr>
      <vt:lpstr>The .claude/ folder is where you shape Claude's behavior</vt:lpstr>
      <vt:lpstr>CLAUDE.md: Claude's briefing note for your project</vt:lpstr>
      <vt:lpstr>Skills, rules, hooks, agents: pick the right block</vt:lpstr>
      <vt:lpstr>Example of my skills: Claude wrote them, and I keep asking it to edit them</vt:lpstr>
      <vt:lpstr>Agents: a markdown file in .claude/agents/</vt:lpstr>
      <vt:lpstr>Hooks and settings: get a push notification when Claude finishes</vt:lpstr>
      <vt:lpstr>Apresentação do PowerPoint</vt:lpstr>
      <vt:lpstr>Plan first, then build in phases: my process</vt:lpstr>
      <vt:lpstr>Then the loop is one sentence: next phase</vt:lpstr>
      <vt:lpstr>Apresentação do PowerPoint</vt:lpstr>
      <vt:lpstr>/clear often: keep the context lean</vt:lpstr>
      <vt:lpstr>Terminal flags: resume, fork, script, and run in parallel</vt:lpstr>
      <vt:lpstr>MCP: plug outside tools into Claude</vt:lpstr>
      <vt:lpstr>Check and ship with the built-in commands</vt:lpstr>
      <vt:lpstr>Take it with you, and keep learning inside the tool</vt:lpstr>
      <vt:lpstr>Eight habits to take home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Code in VS Code: tricks I use every day</dc:title>
  <dc:subject>PptxGenJS Presentation</dc:subject>
  <dc:creator>PptxGenJS</dc:creator>
  <cp:lastModifiedBy>Levy, Rafael</cp:lastModifiedBy>
  <cp:revision>7</cp:revision>
  <dcterms:created xsi:type="dcterms:W3CDTF">2026-10-02T15:55:45Z</dcterms:created>
  <dcterms:modified xsi:type="dcterms:W3CDTF">2026-10-03T03:27:49Z</dcterms:modified>
</cp:coreProperties>
</file>